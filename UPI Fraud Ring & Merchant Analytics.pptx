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We're presenting UPI Fraud Ring and Merchant Analytics, our submission for Track 1: FinTech and BFSI at the TransOrg AgentIQ Datathon. In one line, this project turns messy, real-world UPI transaction data into explainable fraud and merchant risk intelligence. I want to be upfront from slide one: we are not claiming to detect all fraud or to stop it. What we built is a rigorous, honest analytics pipeline that surfaces risk signals a human investigator can act on, and we're equally proud of the parts where we found the data couldn't support a claim, because we said so instead of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national payments authority is watching three patterns emerge in UPI: circular flows that look like money laundering, synthetic identities passing KYC, and merchant accounts that look compromised. The challenge is that the raw data fights back before you even get to fraud detection: UTRs are missing, IDs are malformed across formats, there are OCR artifacts from scanned documents, currency fields have symbols and commas baked in, and the relationships between the four tables don't cleanly join. That chain — messy data, quality problems, limited trust, and finally a hard risk-analysis challenge — is the real starting point of this project, and it's why our first deliverable had to be a data rescue pipeline, not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raw sources feed this project: twenty thousand four hundred UPI transactions, thirty-six thousand four hundred KYC records, six thousand two hundred ten merchant master rows, and two thousand eight hundred eighty-four chargebacks — about sixty-six thousand rows combined. Each source has its own format quirks, which is exactly why the next stage of the pipeline, data rescue, exists before any of these four files can be trusted together as one analytical model. A likely judge question here is why KYC has so many more records than transactions — that's expected, KYC is a customer registry, not every KYC-registered user necessarily transacted inside this particular transaction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differentiator. Instead of dropping messy rows, we built a rescue pipeline: normalize formats, validate values, and — critically — keep an audit trail. Every corrected field has a matching underscore-raw column holding the original value, so nothing is silently overwritten. We found six different raw ID-format variants across the files and normalized all of them, converted Unix epoch timestamps we found hiding in what looked like ordinary date fields, and unified multiple status and category coding schemes into one vocabulary. Ambiguous values get flagged rather than deleted, and we only drop rows that are exact full-row duplicates. The result is ninety-seven to ninety-nine point eight percent row retention, depending on the file — we kept nearly everything, just made it trustworthy. If a judge asks why not just drop bad rows: dropping loses signal and can silently bias the fraud analysis toward whichever rows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linear and auditable: raw CSV and JSON go through the cleaning modules, land as Parquet in a processed data layer, and the analytics modules read from that single processed layer — so the risk engine and the network analysis are always working from the same cleaned truth. Those two feed a Streamlit and Plotly dashboard, and separately an AI Analyst that talks to the same analytics layer. Nothing here is exotic — pandas and Parquet for the data layer, NetworkX for graph analysis, and a deterministic intent router instead of a general-purpose agent for the AI layer. If asked about scalability: because cleaning, analytics, and serving are separate stages reading from Parquet, any one stage can be swapped or scaled without touching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we're proudest of, because it's a finding about our own data, not about fraud. Before we could trust any KYC-based or merchant-based analysis, we checked how well transactions actually link to those tables by ID. Only about thirty-two percent of transactions join cleanly to a KYC user ID, and only about forty-eight percent join to a merchant master ID. We ran a baseline check and found those rates are statistically indistinguishable from what you'd expect from random ID overlap — meaning we cannot claim high-confidence entity linkage. So every KYC-based or merchant-based chart in this project carries a coverage caveat, and we treat those results as directional, not population-level measurements. A judge will likely ask why the joins are so low — our honest answer is on the next slide's caveats: this looks like an identity-resolution gap in the source data itself, not a bug in our join logic, and it's exactly the kind of problem a rule-based system should surface rather than paper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chargeback-to-transaction ratio across the dataset is thirteen point zero four percent, built from two thousand six hundred seven chargebacks that reliably match to twenty thousand transactions through our high-coverage identity join — this join, unlike the KYC and merchant joins, is high-confidence, so we trust this number more. As a bonus analysis we split chargeback rate by category: travel at fifteen point six seven percent versus retail at fifteen point five seven percent — the gap is thin and, given our coverage caveats, we describe it as coverage-limited rather than a confident business insight. Our risk engine itself is deliberately simple: explainable, rule-based, additive scoring from zero to one hundred, no black-box model. It flags three merchants as CRITICAL and thirty-eight as HIGH or CRITICAL out of six hundred fifty-eight merchants with sufficient transaction volume to score reliably. Zero users reached HIGH or CRITICAL. We are careful with language here — these are risk flags requiring investigation, never confirmed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bipartite graph of users and merchants using NetworkX and computed standard graph metrics: node degree, connected components, and cluster density. This surfaces high-degree nodes — a user or merchant with an unusually large number of distinct counterparts — and dense clusters worth a closer look. Here is the honesty point that we think matters most to judges: our dataset only has user-to-merchant transaction links, not account-to-account transfer links. Proving an actual circular money-laundering ring requires transfer-level data we don't have. So we do not claim to have found confirmed laundering rings — we claim the graph analysis identifies structure and anomalies worth investigating, and we say clearly where the data stops supporting a stronger claim. If a judge asks 'can your system detect circular laundering' — the honest answer is no, not with this data, and we'd rather say that than overclaim.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eight pages, from an executive overview down to a dedicated data-quality-and-coverage page, because we wanted coverage caveats to be a first-class citizen, not a footnote. The AI Analyst sits alongside it, but it is not a general chatbot — it supports twelve question types through a deterministic intent router. When a question matches a known intent, the router calls the exact same tested analysis function the dashboard uses and returns that result; it never writes its own SQL or arbitrary code against the data. If a question doesn't match a known intent, it says so explicitly instead of guessing. An optional Anthropic API call can polish the phrasing of the answer, but the numbers themselves always come from the tested analytics layer, never from the language model. This is our answer to 'how do you prevent hallucination' — we don't rely on the model for facts at all, only for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treated testing as part of the deliverable, not an afterthought. One hundred twenty-one automated tests run against the actual uploaded dataset, not synthetic fixtures, so they catch real data-shape issues. Every one of the eight dashboard pages is exercised end to end with Streamlit's AppTest framework, we've verified the local dashboard server directly, and health checks return HTTP 200. We also added regression guards specifically around our documented data-quality findings — the coverage percentages, the retention rate — so a future change can't silently break the numbers we're presenting today, plus divide-by-zero and empty-data protections throughout, since dirty real-world data loves to produce those. The one architectural choice we'd highlight: the dashboard and the AI Analyst call the exact same analytics functions, so there's no way for the chat answer and the chart to tell two different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 rather list these ourselves than have a judge find them. The identity coverage gap from earlier means our KYC and merchant-level insights are directional, not exhaustive — and there are identity collisions within those source tables themselves that we could not fully resolve. There is no ground-truth fraud or laundering label anywhere in this dataset, so we cannot report precision or recall the way a supervised model would; that's exactly why we built an explainable, rule-based engine instead of training a black-box classifier on unlabeled data and pretending it was validated. On the operational side, we prepared Docker and Streamlit Cloud deployment configs but haven't independently verified either end-to-end, and the AI Analyst's twelve question types are fixed, not open-ended. If a judge asks 'why rule-based instead of ML' — with no ground truth, an ML model would be fitting to noise; a rule-based system is auditable and each flag can be traced to a specific, explainable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we'd take this next: expand the AI Analyst beyond twelve question types, add fuzzy or semantic intent matching so it understands more phrasings, bring in stronger entity-resolution signals like device ID or phone number if they become available to close the identity coverage gap, and persist risk scores and graph outputs to Parquet instead of recomputing them on every dashboard load. But we want to close on the throughline of this whole project: messy financial data cannot produce trustworthy risk intelligence unless data quality is addressed first. Everything here — the rescue pipeline, the coverage caveats, the rule-based engine, the tests — exists in service of one goal: explainable, auditable, data-aware risk intelligence.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A0E14"/>
              </a:gs>
              <a:gs pos="55000">
                <a:srgbClr val="101B2E"/>
              </a:gs>
              <a:gs pos="100000">
                <a:srgbClr val="0A0E14"/>
              </a:gs>
            </a:gsLst>
            <a:lin ang="2700000" scaled="0"/>
          </a:gradFill>
          <a:ln/>
        </p:spPr>
      </p:sp>
      <p:pic>
        <p:nvPicPr>
          <p:cNvPr id="3" name="Image 0" descr="ellipse">    </p:cNvPr>
          <p:cNvPicPr>
            <a:picLocks noChangeAspect="1"/>
          </p:cNvPicPr>
          <p:nvPr/>
        </p:nvPicPr>
        <p:blipFill>
          <a:blip r:embed="rId1"/>
          <a:srcRect l="0" r="0" t="0" b="0"/>
          <a:stretch/>
        </p:blipFill>
        <p:spPr>
          <a:xfrm>
            <a:off x="8128000" y="0"/>
            <a:ext cx="4064000" cy="4064000"/>
          </a:xfrm>
          <a:prstGeom prst="rect">
            <a:avLst/>
          </a:prstGeom>
        </p:spPr>
      </p:pic>
      <p:pic>
        <p:nvPicPr>
          <p:cNvPr id="4" name="Image 1" descr="ellipse">    </p:cNvPr>
          <p:cNvPicPr>
            <a:picLocks noChangeAspect="1"/>
          </p:cNvPicPr>
          <p:nvPr/>
        </p:nvPicPr>
        <p:blipFill>
          <a:blip r:embed="rId2"/>
          <a:srcRect l="0" r="0" t="0" b="0"/>
          <a:stretch/>
        </p:blipFill>
        <p:spPr>
          <a:xfrm>
            <a:off x="7747000" y="3810000"/>
            <a:ext cx="3048000" cy="3048000"/>
          </a:xfrm>
          <a:prstGeom prst="rect">
            <a:avLst/>
          </a:prstGeom>
        </p:spPr>
      </p:pic>
      <p:sp>
        <p:nvSpPr>
          <p:cNvPr id="5" name="Text 1"/>
          <p:cNvSpPr/>
          <p:nvPr/>
        </p:nvSpPr>
        <p:spPr>
          <a:xfrm>
            <a:off x="812800" y="18415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D9C4"/>
                </a:solidFill>
                <a:latin typeface="IBM Plex Sans" pitchFamily="34" charset="0"/>
                <a:ea typeface="IBM Plex Sans" pitchFamily="34" charset="-122"/>
                <a:cs typeface="IBM Plex Sans" pitchFamily="34" charset="-120"/>
              </a:rPr>
              <a:t>TRANSORG AGENTIQ DATATHON  ·  TRACK 1: FINTECH &amp; BFSI</a:t>
            </a:r>
            <a:endParaRPr lang="en-US" sz="1200" dirty="0"/>
          </a:p>
        </p:txBody>
      </p:sp>
      <p:sp>
        <p:nvSpPr>
          <p:cNvPr id="6" name="Text 2"/>
          <p:cNvSpPr/>
          <p:nvPr/>
        </p:nvSpPr>
        <p:spPr>
          <a:xfrm>
            <a:off x="812800" y="2283460"/>
            <a:ext cx="10137775" cy="141224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F2F5F8"/>
                </a:solidFill>
                <a:latin typeface="Space Grotesk" pitchFamily="34" charset="0"/>
                <a:ea typeface="Space Grotesk" pitchFamily="34" charset="-122"/>
                <a:cs typeface="Space Grotesk" pitchFamily="34" charset="-120"/>
              </a:rPr>
              <a:t>UPI Fraud Ring &amp; Merchant Analytics</a:t>
            </a:r>
            <a:endParaRPr lang="en-US" sz="5200" dirty="0"/>
          </a:p>
        </p:txBody>
      </p:sp>
      <p:sp>
        <p:nvSpPr>
          <p:cNvPr id="7" name="Text 3"/>
          <p:cNvSpPr/>
          <p:nvPr/>
        </p:nvSpPr>
        <p:spPr>
          <a:xfrm>
            <a:off x="812800" y="3898900"/>
            <a:ext cx="850265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E8BFF"/>
                </a:solidFill>
                <a:latin typeface="Space Grotesk" pitchFamily="34" charset="0"/>
                <a:ea typeface="Space Grotesk" pitchFamily="34" charset="-122"/>
                <a:cs typeface="Space Grotesk" pitchFamily="34" charset="-120"/>
              </a:rPr>
              <a:t>AI-Powered Risk Intelligence for UPI Transactions</a:t>
            </a:r>
            <a:endParaRPr lang="en-US" sz="2000" dirty="0"/>
          </a:p>
        </p:txBody>
      </p:sp>
      <p:sp>
        <p:nvSpPr>
          <p:cNvPr id="8" name="Text 4"/>
          <p:cNvSpPr/>
          <p:nvPr/>
        </p:nvSpPr>
        <p:spPr>
          <a:xfrm>
            <a:off x="812800" y="4483100"/>
            <a:ext cx="719455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8B96A5"/>
                </a:solidFill>
                <a:latin typeface="IBM Plex Sans" pitchFamily="34" charset="0"/>
                <a:ea typeface="IBM Plex Sans" pitchFamily="34" charset="-122"/>
                <a:cs typeface="IBM Plex Sans" pitchFamily="34" charset="-120"/>
              </a:rPr>
              <a:t>Turning messy UPI transaction data into explainable fraud and merchant risk intelligence.</a:t>
            </a:r>
            <a:endParaRPr lang="en-US" sz="1400" dirty="0"/>
          </a:p>
        </p:txBody>
      </p:sp>
      <p:sp>
        <p:nvSpPr>
          <p:cNvPr id="9" name="Text 5"/>
          <p:cNvSpPr/>
          <p:nvPr/>
        </p:nvSpPr>
        <p:spPr>
          <a:xfrm>
            <a:off x="812800" y="6238240"/>
            <a:ext cx="36855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Data Rescue  →  Risk Intelligence  →  Explainable AI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dirty="0">
                <a:solidFill>
                  <a:srgbClr val="F2F5F8"/>
                </a:solidFill>
                <a:latin typeface="Space Grotesk" pitchFamily="34" charset="0"/>
                <a:ea typeface="Space Grotesk" pitchFamily="34" charset="-122"/>
                <a:cs typeface="Space Grotesk" pitchFamily="34" charset="-120"/>
              </a:rPr>
              <a:t>When UPI Data Hides More Than It Reveals</a:t>
            </a:r>
            <a:endParaRPr lang="en-US" sz="3000" dirty="0"/>
          </a:p>
        </p:txBody>
      </p:sp>
      <p:sp>
        <p:nvSpPr>
          <p:cNvPr id="3" name="Shape 1"/>
          <p:cNvSpPr/>
          <p:nvPr/>
        </p:nvSpPr>
        <p:spPr>
          <a:xfrm>
            <a:off x="815975" y="1482725"/>
            <a:ext cx="5175250" cy="2014220"/>
          </a:xfrm>
          <a:prstGeom prst="roundRect">
            <a:avLst>
              <a:gd name="adj" fmla="val 4887"/>
            </a:avLst>
          </a:prstGeom>
          <a:solidFill>
            <a:srgbClr val="151C28"/>
          </a:solidFill>
          <a:ln w="6350">
            <a:solidFill>
              <a:srgbClr val="232C3A"/>
            </a:solidFill>
            <a:prstDash val="solid"/>
          </a:ln>
        </p:spPr>
      </p:sp>
      <p:sp>
        <p:nvSpPr>
          <p:cNvPr id="4" name="Text 2"/>
          <p:cNvSpPr/>
          <p:nvPr/>
        </p:nvSpPr>
        <p:spPr>
          <a:xfrm>
            <a:off x="1046480" y="1713230"/>
            <a:ext cx="48556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7A45"/>
                </a:solidFill>
                <a:latin typeface="IBM Plex Sans" pitchFamily="34" charset="0"/>
                <a:ea typeface="IBM Plex Sans" pitchFamily="34" charset="-122"/>
                <a:cs typeface="IBM Plex Sans" pitchFamily="34" charset="-120"/>
              </a:rPr>
              <a:t>A National Payments Authority's problem</a:t>
            </a:r>
            <a:endParaRPr lang="en-US" sz="1400" dirty="0"/>
          </a:p>
        </p:txBody>
      </p:sp>
      <p:sp>
        <p:nvSpPr>
          <p:cNvPr id="5" name="Text 3"/>
          <p:cNvSpPr/>
          <p:nvPr/>
        </p:nvSpPr>
        <p:spPr>
          <a:xfrm>
            <a:off x="1046480" y="2028190"/>
            <a:ext cx="4855667" cy="768350"/>
          </a:xfrm>
          <a:prstGeom prst="rect">
            <a:avLst/>
          </a:prstGeom>
          <a:noFill/>
          <a:ln/>
        </p:spPr>
        <p:txBody>
          <a:bodyPr wrap="square" lIns="0" tIns="0" rIns="0" bIns="0" rtlCol="0" anchor="t">
            <a:normAutofit/>
          </a:bodyPr>
          <a:lstStyle/>
          <a:p>
            <a:pPr algn="l" marL="342900" indent="-342900">
              <a:lnSpc>
                <a:spcPts val="1950"/>
              </a:lnSpc>
              <a:buSzPct val="100000"/>
              <a:buChar char="•"/>
            </a:pPr>
            <a:r>
              <a:rPr lang="en-US" sz="1300" dirty="0">
                <a:solidFill>
                  <a:srgbClr val="C7CFDA"/>
                </a:solidFill>
                <a:latin typeface="IBM Plex Sans" pitchFamily="34" charset="0"/>
                <a:ea typeface="IBM Plex Sans" pitchFamily="34" charset="-122"/>
                <a:cs typeface="IBM Plex Sans" pitchFamily="34" charset="-120"/>
              </a:rPr>
              <a:t>Circular money-laundering patterns</a:t>
            </a:r>
            <a:endParaRPr lang="en-US" sz="1300" dirty="0"/>
          </a:p>
          <a:p>
            <a:pPr algn="l" marL="342900" indent="-342900">
              <a:lnSpc>
                <a:spcPts val="1950"/>
              </a:lnSpc>
              <a:buSzPct val="100000"/>
              <a:buChar char="•"/>
            </a:pPr>
            <a:r>
              <a:rPr lang="en-US" sz="1300" dirty="0">
                <a:solidFill>
                  <a:srgbClr val="C7CFDA"/>
                </a:solidFill>
                <a:latin typeface="IBM Plex Sans" pitchFamily="34" charset="0"/>
                <a:ea typeface="IBM Plex Sans" pitchFamily="34" charset="-122"/>
                <a:cs typeface="IBM Plex Sans" pitchFamily="34" charset="-120"/>
              </a:rPr>
              <a:t>Synthetic identity fraud</a:t>
            </a:r>
            <a:endParaRPr lang="en-US" sz="1300" dirty="0"/>
          </a:p>
          <a:p>
            <a:pPr algn="l" marL="342900" indent="-342900">
              <a:lnSpc>
                <a:spcPts val="1950"/>
              </a:lnSpc>
              <a:buSzPct val="100000"/>
              <a:buChar char="•"/>
            </a:pPr>
            <a:r>
              <a:rPr lang="en-US" sz="1300" dirty="0">
                <a:solidFill>
                  <a:srgbClr val="C7CFDA"/>
                </a:solidFill>
                <a:latin typeface="IBM Plex Sans" pitchFamily="34" charset="0"/>
                <a:ea typeface="IBM Plex Sans" pitchFamily="34" charset="-122"/>
                <a:cs typeface="IBM Plex Sans" pitchFamily="34" charset="-120"/>
              </a:rPr>
              <a:t>Compromised merchant accounts</a:t>
            </a:r>
            <a:endParaRPr lang="en-US" sz="1300" dirty="0"/>
          </a:p>
        </p:txBody>
      </p:sp>
      <p:sp>
        <p:nvSpPr>
          <p:cNvPr id="6" name="Shape 4"/>
          <p:cNvSpPr/>
          <p:nvPr/>
        </p:nvSpPr>
        <p:spPr>
          <a:xfrm>
            <a:off x="6200775" y="1482725"/>
            <a:ext cx="5175250" cy="2014220"/>
          </a:xfrm>
          <a:prstGeom prst="roundRect">
            <a:avLst>
              <a:gd name="adj" fmla="val 4887"/>
            </a:avLst>
          </a:prstGeom>
          <a:solidFill>
            <a:srgbClr val="151C28"/>
          </a:solidFill>
          <a:ln w="6350">
            <a:solidFill>
              <a:srgbClr val="232C3A"/>
            </a:solidFill>
            <a:prstDash val="solid"/>
          </a:ln>
        </p:spPr>
      </p:sp>
      <p:sp>
        <p:nvSpPr>
          <p:cNvPr id="7" name="Text 5"/>
          <p:cNvSpPr/>
          <p:nvPr/>
        </p:nvSpPr>
        <p:spPr>
          <a:xfrm>
            <a:off x="6431280" y="1713230"/>
            <a:ext cx="48556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E8BFF"/>
                </a:solidFill>
                <a:latin typeface="IBM Plex Sans" pitchFamily="34" charset="0"/>
                <a:ea typeface="IBM Plex Sans" pitchFamily="34" charset="-122"/>
                <a:cs typeface="IBM Plex Sans" pitchFamily="34" charset="-120"/>
              </a:rPr>
              <a:t>…hiding inside messy transaction data</a:t>
            </a:r>
            <a:endParaRPr lang="en-US" sz="1400" dirty="0"/>
          </a:p>
        </p:txBody>
      </p:sp>
      <p:sp>
        <p:nvSpPr>
          <p:cNvPr id="8" name="Text 6"/>
          <p:cNvSpPr/>
          <p:nvPr/>
        </p:nvSpPr>
        <p:spPr>
          <a:xfrm>
            <a:off x="6431280" y="2028190"/>
            <a:ext cx="4855667" cy="1263650"/>
          </a:xfrm>
          <a:prstGeom prst="rect">
            <a:avLst/>
          </a:prstGeom>
          <a:noFill/>
          <a:ln/>
        </p:spPr>
        <p:txBody>
          <a:bodyPr wrap="square" lIns="0" tIns="0" rIns="0" bIns="0" rtlCol="0" anchor="t">
            <a:normAutofit/>
          </a:bodyPr>
          <a:lstStyle/>
          <a:p>
            <a:pPr algn="l" marL="342900" indent="-342900">
              <a:lnSpc>
                <a:spcPts val="1950"/>
              </a:lnSpc>
              <a:buSzPct val="100000"/>
              <a:buChar char="•"/>
            </a:pPr>
            <a:r>
              <a:rPr lang="en-US" sz="1300" dirty="0">
                <a:solidFill>
                  <a:srgbClr val="C7CFDA"/>
                </a:solidFill>
                <a:latin typeface="IBM Plex Sans" pitchFamily="34" charset="0"/>
                <a:ea typeface="IBM Plex Sans" pitchFamily="34" charset="-122"/>
                <a:cs typeface="IBM Plex Sans" pitchFamily="34" charset="-120"/>
              </a:rPr>
              <a:t>Missing UTRs</a:t>
            </a:r>
            <a:endParaRPr lang="en-US" sz="1300" dirty="0"/>
          </a:p>
          <a:p>
            <a:pPr algn="l" marL="342900" indent="-342900">
              <a:lnSpc>
                <a:spcPts val="1950"/>
              </a:lnSpc>
              <a:buSzPct val="100000"/>
              <a:buChar char="•"/>
            </a:pPr>
            <a:r>
              <a:rPr lang="en-US" sz="1300" dirty="0">
                <a:solidFill>
                  <a:srgbClr val="C7CFDA"/>
                </a:solidFill>
                <a:latin typeface="IBM Plex Sans" pitchFamily="34" charset="0"/>
                <a:ea typeface="IBM Plex Sans" pitchFamily="34" charset="-122"/>
                <a:cs typeface="IBM Plex Sans" pitchFamily="34" charset="-120"/>
              </a:rPr>
              <a:t>Malformed IDs</a:t>
            </a:r>
            <a:endParaRPr lang="en-US" sz="1300" dirty="0"/>
          </a:p>
          <a:p>
            <a:pPr algn="l" marL="342900" indent="-342900">
              <a:lnSpc>
                <a:spcPts val="1950"/>
              </a:lnSpc>
              <a:buSzPct val="100000"/>
              <a:buChar char="•"/>
            </a:pPr>
            <a:r>
              <a:rPr lang="en-US" sz="1300" dirty="0">
                <a:solidFill>
                  <a:srgbClr val="C7CFDA"/>
                </a:solidFill>
                <a:latin typeface="IBM Plex Sans" pitchFamily="34" charset="0"/>
                <a:ea typeface="IBM Plex Sans" pitchFamily="34" charset="-122"/>
                <a:cs typeface="IBM Plex Sans" pitchFamily="34" charset="-120"/>
              </a:rPr>
              <a:t>OCR errors</a:t>
            </a:r>
            <a:endParaRPr lang="en-US" sz="1300" dirty="0"/>
          </a:p>
          <a:p>
            <a:pPr algn="l" marL="342900" indent="-342900">
              <a:lnSpc>
                <a:spcPts val="1950"/>
              </a:lnSpc>
              <a:buSzPct val="100000"/>
              <a:buChar char="•"/>
            </a:pPr>
            <a:r>
              <a:rPr lang="en-US" sz="1300" dirty="0">
                <a:solidFill>
                  <a:srgbClr val="C7CFDA"/>
                </a:solidFill>
                <a:latin typeface="IBM Plex Sans" pitchFamily="34" charset="0"/>
                <a:ea typeface="IBM Plex Sans" pitchFamily="34" charset="-122"/>
                <a:cs typeface="IBM Plex Sans" pitchFamily="34" charset="-120"/>
              </a:rPr>
              <a:t>Currency symbols in numeric fields</a:t>
            </a:r>
            <a:endParaRPr lang="en-US" sz="1300" dirty="0"/>
          </a:p>
          <a:p>
            <a:pPr algn="l" marL="342900" indent="-342900">
              <a:lnSpc>
                <a:spcPts val="1950"/>
              </a:lnSpc>
              <a:buSzPct val="100000"/>
              <a:buChar char="•"/>
            </a:pPr>
            <a:r>
              <a:rPr lang="en-US" sz="1300" dirty="0">
                <a:solidFill>
                  <a:srgbClr val="C7CFDA"/>
                </a:solidFill>
                <a:latin typeface="IBM Plex Sans" pitchFamily="34" charset="0"/>
                <a:ea typeface="IBM Plex Sans" pitchFamily="34" charset="-122"/>
                <a:cs typeface="IBM Plex Sans" pitchFamily="34" charset="-120"/>
              </a:rPr>
              <a:t>Broken relationships between tables</a:t>
            </a:r>
            <a:endParaRPr lang="en-US" sz="1300" dirty="0"/>
          </a:p>
        </p:txBody>
      </p:sp>
      <p:sp>
        <p:nvSpPr>
          <p:cNvPr id="9" name="Shape 7"/>
          <p:cNvSpPr/>
          <p:nvPr/>
        </p:nvSpPr>
        <p:spPr>
          <a:xfrm>
            <a:off x="815975" y="3731895"/>
            <a:ext cx="2292350" cy="471170"/>
          </a:xfrm>
          <a:prstGeom prst="roundRect">
            <a:avLst>
              <a:gd name="adj" fmla="val 15499"/>
            </a:avLst>
          </a:prstGeom>
          <a:solidFill>
            <a:srgbClr val="1B2433"/>
          </a:solidFill>
          <a:ln w="6350">
            <a:solidFill>
              <a:srgbClr val="2A3548"/>
            </a:solidFill>
            <a:prstDash val="solid"/>
          </a:ln>
        </p:spPr>
      </p:sp>
      <p:sp>
        <p:nvSpPr>
          <p:cNvPr id="10" name="Text 8"/>
          <p:cNvSpPr/>
          <p:nvPr/>
        </p:nvSpPr>
        <p:spPr>
          <a:xfrm>
            <a:off x="862038" y="3860800"/>
            <a:ext cx="220022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8"/>
                </a:solidFill>
                <a:latin typeface="IBM Plex Sans" pitchFamily="34" charset="0"/>
                <a:ea typeface="IBM Plex Sans" pitchFamily="34" charset="-122"/>
                <a:cs typeface="IBM Plex Sans" pitchFamily="34" charset="-120"/>
              </a:rPr>
              <a:t>MESSY DATA</a:t>
            </a:r>
            <a:endParaRPr lang="en-US" sz="1200" dirty="0"/>
          </a:p>
        </p:txBody>
      </p:sp>
      <p:pic>
        <p:nvPicPr>
          <p:cNvPr id="11" name="Image 0" descr="arrow-right">    </p:cNvPr>
          <p:cNvPicPr>
            <a:picLocks noChangeAspect="1"/>
          </p:cNvPicPr>
          <p:nvPr/>
        </p:nvPicPr>
        <p:blipFill>
          <a:blip r:embed="rId1"/>
          <a:srcRect l="0" r="0" t="0" b="0"/>
          <a:stretch/>
        </p:blipFill>
        <p:spPr>
          <a:xfrm>
            <a:off x="3213100" y="3903980"/>
            <a:ext cx="254000" cy="127000"/>
          </a:xfrm>
          <a:prstGeom prst="rect">
            <a:avLst/>
          </a:prstGeom>
        </p:spPr>
      </p:pic>
      <p:sp>
        <p:nvSpPr>
          <p:cNvPr id="12" name="Shape 9"/>
          <p:cNvSpPr/>
          <p:nvPr/>
        </p:nvSpPr>
        <p:spPr>
          <a:xfrm>
            <a:off x="3571875" y="3731895"/>
            <a:ext cx="2292350" cy="471170"/>
          </a:xfrm>
          <a:prstGeom prst="roundRect">
            <a:avLst>
              <a:gd name="adj" fmla="val 15499"/>
            </a:avLst>
          </a:prstGeom>
          <a:solidFill>
            <a:srgbClr val="1B2433"/>
          </a:solidFill>
          <a:ln w="6350">
            <a:solidFill>
              <a:srgbClr val="2A3548"/>
            </a:solidFill>
            <a:prstDash val="solid"/>
          </a:ln>
        </p:spPr>
      </p:sp>
      <p:sp>
        <p:nvSpPr>
          <p:cNvPr id="13" name="Text 10"/>
          <p:cNvSpPr/>
          <p:nvPr/>
        </p:nvSpPr>
        <p:spPr>
          <a:xfrm>
            <a:off x="3617938" y="3860800"/>
            <a:ext cx="220022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8"/>
                </a:solidFill>
                <a:latin typeface="IBM Plex Sans" pitchFamily="34" charset="0"/>
                <a:ea typeface="IBM Plex Sans" pitchFamily="34" charset="-122"/>
                <a:cs typeface="IBM Plex Sans" pitchFamily="34" charset="-120"/>
              </a:rPr>
              <a:t>DATA QUALITY PROBLEMS</a:t>
            </a:r>
            <a:endParaRPr lang="en-US" sz="1200" dirty="0"/>
          </a:p>
        </p:txBody>
      </p:sp>
      <p:pic>
        <p:nvPicPr>
          <p:cNvPr id="14" name="Image 1" descr="arrow-right">    </p:cNvPr>
          <p:cNvPicPr>
            <a:picLocks noChangeAspect="1"/>
          </p:cNvPicPr>
          <p:nvPr/>
        </p:nvPicPr>
        <p:blipFill>
          <a:blip r:embed="rId2"/>
          <a:srcRect l="0" r="0" t="0" b="0"/>
          <a:stretch/>
        </p:blipFill>
        <p:spPr>
          <a:xfrm>
            <a:off x="5969000" y="3903980"/>
            <a:ext cx="254000" cy="127000"/>
          </a:xfrm>
          <a:prstGeom prst="rect">
            <a:avLst/>
          </a:prstGeom>
        </p:spPr>
      </p:pic>
      <p:sp>
        <p:nvSpPr>
          <p:cNvPr id="15" name="Shape 11"/>
          <p:cNvSpPr/>
          <p:nvPr/>
        </p:nvSpPr>
        <p:spPr>
          <a:xfrm>
            <a:off x="6327775" y="3731895"/>
            <a:ext cx="2292350" cy="471170"/>
          </a:xfrm>
          <a:prstGeom prst="roundRect">
            <a:avLst>
              <a:gd name="adj" fmla="val 15499"/>
            </a:avLst>
          </a:prstGeom>
          <a:solidFill>
            <a:srgbClr val="1B2433"/>
          </a:solidFill>
          <a:ln w="6350">
            <a:solidFill>
              <a:srgbClr val="2A3548"/>
            </a:solidFill>
            <a:prstDash val="solid"/>
          </a:ln>
        </p:spPr>
      </p:sp>
      <p:sp>
        <p:nvSpPr>
          <p:cNvPr id="16" name="Text 12"/>
          <p:cNvSpPr/>
          <p:nvPr/>
        </p:nvSpPr>
        <p:spPr>
          <a:xfrm>
            <a:off x="6373838" y="3860800"/>
            <a:ext cx="220022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8"/>
                </a:solidFill>
                <a:latin typeface="IBM Plex Sans" pitchFamily="34" charset="0"/>
                <a:ea typeface="IBM Plex Sans" pitchFamily="34" charset="-122"/>
                <a:cs typeface="IBM Plex Sans" pitchFamily="34" charset="-120"/>
              </a:rPr>
              <a:t>LIMITED TRUST</a:t>
            </a:r>
            <a:endParaRPr lang="en-US" sz="1200" dirty="0"/>
          </a:p>
        </p:txBody>
      </p:sp>
      <p:pic>
        <p:nvPicPr>
          <p:cNvPr id="17" name="Image 2" descr="arrow-right">    </p:cNvPr>
          <p:cNvPicPr>
            <a:picLocks noChangeAspect="1"/>
          </p:cNvPicPr>
          <p:nvPr/>
        </p:nvPicPr>
        <p:blipFill>
          <a:blip r:embed="rId3"/>
          <a:srcRect l="0" r="0" t="0" b="0"/>
          <a:stretch/>
        </p:blipFill>
        <p:spPr>
          <a:xfrm>
            <a:off x="8724900" y="3903980"/>
            <a:ext cx="254000" cy="127000"/>
          </a:xfrm>
          <a:prstGeom prst="rect">
            <a:avLst/>
          </a:prstGeom>
        </p:spPr>
      </p:pic>
      <p:sp>
        <p:nvSpPr>
          <p:cNvPr id="18" name="Shape 13"/>
          <p:cNvSpPr/>
          <p:nvPr/>
        </p:nvSpPr>
        <p:spPr>
          <a:xfrm>
            <a:off x="9083675" y="3731895"/>
            <a:ext cx="2292350" cy="471170"/>
          </a:xfrm>
          <a:prstGeom prst="roundRect">
            <a:avLst>
              <a:gd name="adj" fmla="val 15499"/>
            </a:avLst>
          </a:prstGeom>
          <a:solidFill>
            <a:srgbClr val="2A1A14"/>
          </a:solidFill>
          <a:ln w="6350">
            <a:solidFill>
              <a:srgbClr val="4A2A1E"/>
            </a:solidFill>
            <a:prstDash val="solid"/>
          </a:ln>
        </p:spPr>
      </p:sp>
      <p:sp>
        <p:nvSpPr>
          <p:cNvPr id="19" name="Text 14"/>
          <p:cNvSpPr/>
          <p:nvPr/>
        </p:nvSpPr>
        <p:spPr>
          <a:xfrm>
            <a:off x="9129738" y="3860800"/>
            <a:ext cx="220022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7A45"/>
                </a:solidFill>
                <a:latin typeface="IBM Plex Sans" pitchFamily="34" charset="0"/>
                <a:ea typeface="IBM Plex Sans" pitchFamily="34" charset="-122"/>
                <a:cs typeface="IBM Plex Sans" pitchFamily="34" charset="-120"/>
              </a:rPr>
              <a:t>RISK ANALYSIS CHALLENGE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dirty="0">
                <a:solidFill>
                  <a:srgbClr val="F2F5F8"/>
                </a:solidFill>
                <a:latin typeface="Space Grotesk" pitchFamily="34" charset="0"/>
                <a:ea typeface="Space Grotesk" pitchFamily="34" charset="-122"/>
                <a:cs typeface="Space Grotesk" pitchFamily="34" charset="-120"/>
              </a:rPr>
              <a:t>Data At A Glance: Four Sources, ~66K Rows</a:t>
            </a:r>
            <a:endParaRPr lang="en-US" sz="3000" dirty="0"/>
          </a:p>
        </p:txBody>
      </p:sp>
      <p:sp>
        <p:nvSpPr>
          <p:cNvPr id="3" name="Shape 1"/>
          <p:cNvSpPr/>
          <p:nvPr/>
        </p:nvSpPr>
        <p:spPr>
          <a:xfrm>
            <a:off x="815975" y="1508125"/>
            <a:ext cx="2501900" cy="1062990"/>
          </a:xfrm>
          <a:prstGeom prst="roundRect">
            <a:avLst>
              <a:gd name="adj" fmla="val 9259"/>
            </a:avLst>
          </a:prstGeom>
          <a:solidFill>
            <a:srgbClr val="151C28"/>
          </a:solidFill>
          <a:ln w="6350">
            <a:solidFill>
              <a:srgbClr val="232C3A"/>
            </a:solidFill>
            <a:prstDash val="solid"/>
          </a:ln>
        </p:spPr>
      </p:sp>
      <p:sp>
        <p:nvSpPr>
          <p:cNvPr id="4" name="Text 2"/>
          <p:cNvSpPr/>
          <p:nvPr/>
        </p:nvSpPr>
        <p:spPr>
          <a:xfrm>
            <a:off x="1021080" y="1713230"/>
            <a:ext cx="2154441"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4E8BFF"/>
                </a:solidFill>
                <a:latin typeface="IBM Plex Sans" pitchFamily="34" charset="0"/>
                <a:ea typeface="IBM Plex Sans" pitchFamily="34" charset="-122"/>
                <a:cs typeface="IBM Plex Sans" pitchFamily="34" charset="-120"/>
              </a:rPr>
              <a:t>UPI TRANSACTIONS</a:t>
            </a:r>
            <a:endParaRPr lang="en-US" sz="1100" dirty="0"/>
          </a:p>
        </p:txBody>
      </p:sp>
      <p:sp>
        <p:nvSpPr>
          <p:cNvPr id="5" name="Text 3"/>
          <p:cNvSpPr/>
          <p:nvPr/>
        </p:nvSpPr>
        <p:spPr>
          <a:xfrm>
            <a:off x="1021080" y="1959611"/>
            <a:ext cx="215444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2F5F8"/>
                </a:solidFill>
                <a:latin typeface="Space Grotesk" pitchFamily="34" charset="0"/>
                <a:ea typeface="Space Grotesk" pitchFamily="34" charset="-122"/>
                <a:cs typeface="Space Grotesk" pitchFamily="34" charset="-120"/>
              </a:rPr>
              <a:t>20,400</a:t>
            </a:r>
            <a:endParaRPr lang="en-US" sz="3200" dirty="0"/>
          </a:p>
        </p:txBody>
      </p:sp>
      <p:sp>
        <p:nvSpPr>
          <p:cNvPr id="6" name="Shape 4"/>
          <p:cNvSpPr/>
          <p:nvPr/>
        </p:nvSpPr>
        <p:spPr>
          <a:xfrm>
            <a:off x="3502025" y="1508125"/>
            <a:ext cx="2501900" cy="1062990"/>
          </a:xfrm>
          <a:prstGeom prst="roundRect">
            <a:avLst>
              <a:gd name="adj" fmla="val 9259"/>
            </a:avLst>
          </a:prstGeom>
          <a:solidFill>
            <a:srgbClr val="151C28"/>
          </a:solidFill>
          <a:ln w="6350">
            <a:solidFill>
              <a:srgbClr val="232C3A"/>
            </a:solidFill>
            <a:prstDash val="solid"/>
          </a:ln>
        </p:spPr>
      </p:sp>
      <p:sp>
        <p:nvSpPr>
          <p:cNvPr id="7" name="Text 5"/>
          <p:cNvSpPr/>
          <p:nvPr/>
        </p:nvSpPr>
        <p:spPr>
          <a:xfrm>
            <a:off x="3707130" y="1713230"/>
            <a:ext cx="2154441"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4E8BFF"/>
                </a:solidFill>
                <a:latin typeface="IBM Plex Sans" pitchFamily="34" charset="0"/>
                <a:ea typeface="IBM Plex Sans" pitchFamily="34" charset="-122"/>
                <a:cs typeface="IBM Plex Sans" pitchFamily="34" charset="-120"/>
              </a:rPr>
              <a:t>KYC RECORDS</a:t>
            </a:r>
            <a:endParaRPr lang="en-US" sz="1100" dirty="0"/>
          </a:p>
        </p:txBody>
      </p:sp>
      <p:sp>
        <p:nvSpPr>
          <p:cNvPr id="8" name="Text 6"/>
          <p:cNvSpPr/>
          <p:nvPr/>
        </p:nvSpPr>
        <p:spPr>
          <a:xfrm>
            <a:off x="3707130" y="1959611"/>
            <a:ext cx="215444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2F5F8"/>
                </a:solidFill>
                <a:latin typeface="Space Grotesk" pitchFamily="34" charset="0"/>
                <a:ea typeface="Space Grotesk" pitchFamily="34" charset="-122"/>
                <a:cs typeface="Space Grotesk" pitchFamily="34" charset="-120"/>
              </a:rPr>
              <a:t>36,400</a:t>
            </a:r>
            <a:endParaRPr lang="en-US" sz="3200" dirty="0"/>
          </a:p>
        </p:txBody>
      </p:sp>
      <p:sp>
        <p:nvSpPr>
          <p:cNvPr id="9" name="Shape 7"/>
          <p:cNvSpPr/>
          <p:nvPr/>
        </p:nvSpPr>
        <p:spPr>
          <a:xfrm>
            <a:off x="6188075" y="1508125"/>
            <a:ext cx="2501900" cy="1062990"/>
          </a:xfrm>
          <a:prstGeom prst="roundRect">
            <a:avLst>
              <a:gd name="adj" fmla="val 9259"/>
            </a:avLst>
          </a:prstGeom>
          <a:solidFill>
            <a:srgbClr val="151C28"/>
          </a:solidFill>
          <a:ln w="6350">
            <a:solidFill>
              <a:srgbClr val="232C3A"/>
            </a:solidFill>
            <a:prstDash val="solid"/>
          </a:ln>
        </p:spPr>
      </p:sp>
      <p:sp>
        <p:nvSpPr>
          <p:cNvPr id="10" name="Text 8"/>
          <p:cNvSpPr/>
          <p:nvPr/>
        </p:nvSpPr>
        <p:spPr>
          <a:xfrm>
            <a:off x="6393180" y="1713230"/>
            <a:ext cx="2154441"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4E8BFF"/>
                </a:solidFill>
                <a:latin typeface="IBM Plex Sans" pitchFamily="34" charset="0"/>
                <a:ea typeface="IBM Plex Sans" pitchFamily="34" charset="-122"/>
                <a:cs typeface="IBM Plex Sans" pitchFamily="34" charset="-120"/>
              </a:rPr>
              <a:t>MERCHANT MASTER</a:t>
            </a:r>
            <a:endParaRPr lang="en-US" sz="1100" dirty="0"/>
          </a:p>
        </p:txBody>
      </p:sp>
      <p:sp>
        <p:nvSpPr>
          <p:cNvPr id="11" name="Text 9"/>
          <p:cNvSpPr/>
          <p:nvPr/>
        </p:nvSpPr>
        <p:spPr>
          <a:xfrm>
            <a:off x="6393180" y="1959611"/>
            <a:ext cx="215444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2F5F8"/>
                </a:solidFill>
                <a:latin typeface="Space Grotesk" pitchFamily="34" charset="0"/>
                <a:ea typeface="Space Grotesk" pitchFamily="34" charset="-122"/>
                <a:cs typeface="Space Grotesk" pitchFamily="34" charset="-120"/>
              </a:rPr>
              <a:t>6,210</a:t>
            </a:r>
            <a:endParaRPr lang="en-US" sz="3200" dirty="0"/>
          </a:p>
        </p:txBody>
      </p:sp>
      <p:sp>
        <p:nvSpPr>
          <p:cNvPr id="12" name="Shape 10"/>
          <p:cNvSpPr/>
          <p:nvPr/>
        </p:nvSpPr>
        <p:spPr>
          <a:xfrm>
            <a:off x="8874125" y="1508125"/>
            <a:ext cx="2501900" cy="1062990"/>
          </a:xfrm>
          <a:prstGeom prst="roundRect">
            <a:avLst>
              <a:gd name="adj" fmla="val 9259"/>
            </a:avLst>
          </a:prstGeom>
          <a:solidFill>
            <a:srgbClr val="151C28"/>
          </a:solidFill>
          <a:ln w="6350">
            <a:solidFill>
              <a:srgbClr val="232C3A"/>
            </a:solidFill>
            <a:prstDash val="solid"/>
          </a:ln>
        </p:spPr>
      </p:sp>
      <p:sp>
        <p:nvSpPr>
          <p:cNvPr id="13" name="Text 11"/>
          <p:cNvSpPr/>
          <p:nvPr/>
        </p:nvSpPr>
        <p:spPr>
          <a:xfrm>
            <a:off x="9079230" y="1713230"/>
            <a:ext cx="2154441"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FF7A45"/>
                </a:solidFill>
                <a:latin typeface="IBM Plex Sans" pitchFamily="34" charset="0"/>
                <a:ea typeface="IBM Plex Sans" pitchFamily="34" charset="-122"/>
                <a:cs typeface="IBM Plex Sans" pitchFamily="34" charset="-120"/>
              </a:rPr>
              <a:t>CHARGEBACKS</a:t>
            </a:r>
            <a:endParaRPr lang="en-US" sz="1100" dirty="0"/>
          </a:p>
        </p:txBody>
      </p:sp>
      <p:sp>
        <p:nvSpPr>
          <p:cNvPr id="14" name="Text 12"/>
          <p:cNvSpPr/>
          <p:nvPr/>
        </p:nvSpPr>
        <p:spPr>
          <a:xfrm>
            <a:off x="9079230" y="1959611"/>
            <a:ext cx="215444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2F5F8"/>
                </a:solidFill>
                <a:latin typeface="Space Grotesk" pitchFamily="34" charset="0"/>
                <a:ea typeface="Space Grotesk" pitchFamily="34" charset="-122"/>
                <a:cs typeface="Space Grotesk" pitchFamily="34" charset="-120"/>
              </a:rPr>
              <a:t>2,884</a:t>
            </a:r>
            <a:endParaRPr lang="en-US" sz="3200" dirty="0"/>
          </a:p>
        </p:txBody>
      </p:sp>
      <p:sp>
        <p:nvSpPr>
          <p:cNvPr id="15" name="Shape 13"/>
          <p:cNvSpPr/>
          <p:nvPr/>
        </p:nvSpPr>
        <p:spPr>
          <a:xfrm>
            <a:off x="1590675" y="2831466"/>
            <a:ext cx="2152650" cy="402590"/>
          </a:xfrm>
          <a:prstGeom prst="roundRect">
            <a:avLst>
              <a:gd name="adj" fmla="val 14984"/>
            </a:avLst>
          </a:prstGeom>
          <a:solidFill>
            <a:srgbClr val="1B2433"/>
          </a:solidFill>
          <a:ln w="6350">
            <a:solidFill>
              <a:srgbClr val="2A3548"/>
            </a:solidFill>
            <a:prstDash val="solid"/>
          </a:ln>
        </p:spPr>
      </p:sp>
      <p:sp>
        <p:nvSpPr>
          <p:cNvPr id="16" name="Text 14"/>
          <p:cNvSpPr/>
          <p:nvPr/>
        </p:nvSpPr>
        <p:spPr>
          <a:xfrm>
            <a:off x="1612671" y="2934971"/>
            <a:ext cx="2108657" cy="22098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UPI Transactions</a:t>
            </a:r>
            <a:endParaRPr lang="en-US" sz="1100" dirty="0"/>
          </a:p>
        </p:txBody>
      </p:sp>
      <p:sp>
        <p:nvSpPr>
          <p:cNvPr id="17" name="Shape 15"/>
          <p:cNvSpPr/>
          <p:nvPr/>
        </p:nvSpPr>
        <p:spPr>
          <a:xfrm>
            <a:off x="3876675" y="2831466"/>
            <a:ext cx="2152650" cy="402590"/>
          </a:xfrm>
          <a:prstGeom prst="roundRect">
            <a:avLst>
              <a:gd name="adj" fmla="val 14984"/>
            </a:avLst>
          </a:prstGeom>
          <a:solidFill>
            <a:srgbClr val="1B2433"/>
          </a:solidFill>
          <a:ln w="6350">
            <a:solidFill>
              <a:srgbClr val="2A3548"/>
            </a:solidFill>
            <a:prstDash val="solid"/>
          </a:ln>
        </p:spPr>
      </p:sp>
      <p:sp>
        <p:nvSpPr>
          <p:cNvPr id="18" name="Text 16"/>
          <p:cNvSpPr/>
          <p:nvPr/>
        </p:nvSpPr>
        <p:spPr>
          <a:xfrm>
            <a:off x="3898671" y="2934971"/>
            <a:ext cx="2108657" cy="22098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KYC Records</a:t>
            </a:r>
            <a:endParaRPr lang="en-US" sz="1100" dirty="0"/>
          </a:p>
        </p:txBody>
      </p:sp>
      <p:sp>
        <p:nvSpPr>
          <p:cNvPr id="19" name="Shape 17"/>
          <p:cNvSpPr/>
          <p:nvPr/>
        </p:nvSpPr>
        <p:spPr>
          <a:xfrm>
            <a:off x="6162675" y="2831466"/>
            <a:ext cx="2152650" cy="402590"/>
          </a:xfrm>
          <a:prstGeom prst="roundRect">
            <a:avLst>
              <a:gd name="adj" fmla="val 14984"/>
            </a:avLst>
          </a:prstGeom>
          <a:solidFill>
            <a:srgbClr val="1B2433"/>
          </a:solidFill>
          <a:ln w="6350">
            <a:solidFill>
              <a:srgbClr val="2A3548"/>
            </a:solidFill>
            <a:prstDash val="solid"/>
          </a:ln>
        </p:spPr>
      </p:sp>
      <p:sp>
        <p:nvSpPr>
          <p:cNvPr id="20" name="Text 18"/>
          <p:cNvSpPr/>
          <p:nvPr/>
        </p:nvSpPr>
        <p:spPr>
          <a:xfrm>
            <a:off x="6184671" y="2934971"/>
            <a:ext cx="2108657" cy="22098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Merchant Master</a:t>
            </a:r>
            <a:endParaRPr lang="en-US" sz="1100" dirty="0"/>
          </a:p>
        </p:txBody>
      </p:sp>
      <p:sp>
        <p:nvSpPr>
          <p:cNvPr id="21" name="Shape 19"/>
          <p:cNvSpPr/>
          <p:nvPr/>
        </p:nvSpPr>
        <p:spPr>
          <a:xfrm>
            <a:off x="8448675" y="2831466"/>
            <a:ext cx="2152650" cy="402590"/>
          </a:xfrm>
          <a:prstGeom prst="roundRect">
            <a:avLst>
              <a:gd name="adj" fmla="val 14984"/>
            </a:avLst>
          </a:prstGeom>
          <a:solidFill>
            <a:srgbClr val="1B2433"/>
          </a:solidFill>
          <a:ln w="6350">
            <a:solidFill>
              <a:srgbClr val="2A3548"/>
            </a:solidFill>
            <a:prstDash val="solid"/>
          </a:ln>
        </p:spPr>
      </p:sp>
      <p:sp>
        <p:nvSpPr>
          <p:cNvPr id="22" name="Text 20"/>
          <p:cNvSpPr/>
          <p:nvPr/>
        </p:nvSpPr>
        <p:spPr>
          <a:xfrm>
            <a:off x="8470671" y="2934971"/>
            <a:ext cx="2108657" cy="22098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Chargebacks</a:t>
            </a:r>
            <a:endParaRPr lang="en-US" sz="1100" dirty="0"/>
          </a:p>
        </p:txBody>
      </p:sp>
      <p:pic>
        <p:nvPicPr>
          <p:cNvPr id="23" name="Image 0" descr="arrow-down">    </p:cNvPr>
          <p:cNvPicPr>
            <a:picLocks noChangeAspect="1"/>
          </p:cNvPicPr>
          <p:nvPr/>
        </p:nvPicPr>
        <p:blipFill>
          <a:blip r:embed="rId1"/>
          <a:srcRect l="0" r="0" t="0" b="0"/>
          <a:stretch/>
        </p:blipFill>
        <p:spPr>
          <a:xfrm>
            <a:off x="6019800" y="3364230"/>
            <a:ext cx="152400" cy="203200"/>
          </a:xfrm>
          <a:prstGeom prst="rect">
            <a:avLst/>
          </a:prstGeom>
        </p:spPr>
      </p:pic>
      <p:sp>
        <p:nvSpPr>
          <p:cNvPr id="24" name="Shape 21"/>
          <p:cNvSpPr/>
          <p:nvPr/>
        </p:nvSpPr>
        <p:spPr>
          <a:xfrm>
            <a:off x="3876675" y="3697605"/>
            <a:ext cx="4438650" cy="514350"/>
          </a:xfrm>
          <a:prstGeom prst="roundRect">
            <a:avLst>
              <a:gd name="adj" fmla="val 14198"/>
            </a:avLst>
          </a:prstGeom>
          <a:solidFill>
            <a:srgbClr val="132A26"/>
          </a:solidFill>
          <a:ln w="6350">
            <a:solidFill>
              <a:srgbClr val="1E4640"/>
            </a:solidFill>
            <a:prstDash val="solid"/>
          </a:ln>
        </p:spPr>
      </p:sp>
      <p:sp>
        <p:nvSpPr>
          <p:cNvPr id="25" name="Text 22"/>
          <p:cNvSpPr/>
          <p:nvPr/>
        </p:nvSpPr>
        <p:spPr>
          <a:xfrm>
            <a:off x="3916705" y="3839210"/>
            <a:ext cx="4358589"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2AD9C4"/>
                </a:solidFill>
                <a:latin typeface="IBM Plex Sans" pitchFamily="34" charset="0"/>
                <a:ea typeface="IBM Plex Sans" pitchFamily="34" charset="-122"/>
                <a:cs typeface="IBM Plex Sans" pitchFamily="34" charset="-120"/>
              </a:rPr>
              <a:t>One Unified Analytical Model  ·  ~66,000 rows total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812800" y="8128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dirty="0">
                <a:solidFill>
                  <a:srgbClr val="F2F5F8"/>
                </a:solidFill>
                <a:latin typeface="Space Grotesk" pitchFamily="34" charset="0"/>
                <a:ea typeface="Space Grotesk" pitchFamily="34" charset="-122"/>
                <a:cs typeface="Space Grotesk" pitchFamily="34" charset="-120"/>
              </a:rPr>
              <a:t>Rescuing The Data Before Analyzing It</a:t>
            </a:r>
            <a:endParaRPr lang="en-US" sz="3000" dirty="0"/>
          </a:p>
        </p:txBody>
      </p:sp>
      <p:sp>
        <p:nvSpPr>
          <p:cNvPr id="3" name="Shape 1"/>
          <p:cNvSpPr/>
          <p:nvPr/>
        </p:nvSpPr>
        <p:spPr>
          <a:xfrm>
            <a:off x="1006475" y="1457325"/>
            <a:ext cx="2914650" cy="420370"/>
          </a:xfrm>
          <a:prstGeom prst="roundRect">
            <a:avLst>
              <a:gd name="adj" fmla="val 14350"/>
            </a:avLst>
          </a:prstGeom>
          <a:solidFill>
            <a:srgbClr val="1B2433"/>
          </a:solidFill>
          <a:ln w="6350">
            <a:solidFill>
              <a:srgbClr val="2A3548"/>
            </a:solidFill>
            <a:prstDash val="solid"/>
          </a:ln>
        </p:spPr>
      </p:sp>
      <p:sp>
        <p:nvSpPr>
          <p:cNvPr id="4" name="Text 2"/>
          <p:cNvSpPr/>
          <p:nvPr/>
        </p:nvSpPr>
        <p:spPr>
          <a:xfrm>
            <a:off x="1017041" y="1560830"/>
            <a:ext cx="289351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7CFDA"/>
                </a:solidFill>
                <a:latin typeface="IBM Plex Sans" pitchFamily="34" charset="0"/>
                <a:ea typeface="IBM Plex Sans" pitchFamily="34" charset="-122"/>
                <a:cs typeface="IBM Plex Sans" pitchFamily="34" charset="-120"/>
              </a:rPr>
              <a:t>RAW DATA</a:t>
            </a:r>
            <a:endParaRPr lang="en-US" sz="1200" dirty="0"/>
          </a:p>
        </p:txBody>
      </p:sp>
      <p:pic>
        <p:nvPicPr>
          <p:cNvPr id="5" name="Image 0" descr="arrow-down">    </p:cNvPr>
          <p:cNvPicPr>
            <a:picLocks noChangeAspect="1"/>
          </p:cNvPicPr>
          <p:nvPr/>
        </p:nvPicPr>
        <p:blipFill>
          <a:blip r:embed="rId1"/>
          <a:srcRect l="0" r="0" t="0" b="0"/>
          <a:stretch/>
        </p:blipFill>
        <p:spPr>
          <a:xfrm>
            <a:off x="2400300" y="1969770"/>
            <a:ext cx="127000" cy="139700"/>
          </a:xfrm>
          <a:prstGeom prst="rect">
            <a:avLst/>
          </a:prstGeom>
        </p:spPr>
      </p:pic>
      <p:sp>
        <p:nvSpPr>
          <p:cNvPr id="6" name="Shape 3"/>
          <p:cNvSpPr/>
          <p:nvPr/>
        </p:nvSpPr>
        <p:spPr>
          <a:xfrm>
            <a:off x="1006475" y="2201545"/>
            <a:ext cx="2914650" cy="420370"/>
          </a:xfrm>
          <a:prstGeom prst="roundRect">
            <a:avLst>
              <a:gd name="adj" fmla="val 14350"/>
            </a:avLst>
          </a:prstGeom>
          <a:solidFill>
            <a:srgbClr val="1B2433"/>
          </a:solidFill>
          <a:ln w="6350">
            <a:solidFill>
              <a:srgbClr val="2A3548"/>
            </a:solidFill>
            <a:prstDash val="solid"/>
          </a:ln>
        </p:spPr>
      </p:sp>
      <p:sp>
        <p:nvSpPr>
          <p:cNvPr id="7" name="Text 4"/>
          <p:cNvSpPr/>
          <p:nvPr/>
        </p:nvSpPr>
        <p:spPr>
          <a:xfrm>
            <a:off x="1017041" y="2305050"/>
            <a:ext cx="289351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7CFDA"/>
                </a:solidFill>
                <a:latin typeface="IBM Plex Sans" pitchFamily="34" charset="0"/>
                <a:ea typeface="IBM Plex Sans" pitchFamily="34" charset="-122"/>
                <a:cs typeface="IBM Plex Sans" pitchFamily="34" charset="-120"/>
              </a:rPr>
              <a:t>Normalization</a:t>
            </a:r>
            <a:endParaRPr lang="en-US" sz="1200" dirty="0"/>
          </a:p>
        </p:txBody>
      </p:sp>
      <p:pic>
        <p:nvPicPr>
          <p:cNvPr id="8" name="Image 1" descr="arrow-down">    </p:cNvPr>
          <p:cNvPicPr>
            <a:picLocks noChangeAspect="1"/>
          </p:cNvPicPr>
          <p:nvPr/>
        </p:nvPicPr>
        <p:blipFill>
          <a:blip r:embed="rId2"/>
          <a:srcRect l="0" r="0" t="0" b="0"/>
          <a:stretch/>
        </p:blipFill>
        <p:spPr>
          <a:xfrm>
            <a:off x="2400300" y="2713991"/>
            <a:ext cx="127000" cy="139700"/>
          </a:xfrm>
          <a:prstGeom prst="rect">
            <a:avLst/>
          </a:prstGeom>
        </p:spPr>
      </p:pic>
      <p:sp>
        <p:nvSpPr>
          <p:cNvPr id="9" name="Shape 5"/>
          <p:cNvSpPr/>
          <p:nvPr/>
        </p:nvSpPr>
        <p:spPr>
          <a:xfrm>
            <a:off x="1006475" y="2945766"/>
            <a:ext cx="2914650" cy="420370"/>
          </a:xfrm>
          <a:prstGeom prst="roundRect">
            <a:avLst>
              <a:gd name="adj" fmla="val 14350"/>
            </a:avLst>
          </a:prstGeom>
          <a:solidFill>
            <a:srgbClr val="1B2433"/>
          </a:solidFill>
          <a:ln w="6350">
            <a:solidFill>
              <a:srgbClr val="2A3548"/>
            </a:solidFill>
            <a:prstDash val="solid"/>
          </a:ln>
        </p:spPr>
      </p:sp>
      <p:sp>
        <p:nvSpPr>
          <p:cNvPr id="10" name="Text 6"/>
          <p:cNvSpPr/>
          <p:nvPr/>
        </p:nvSpPr>
        <p:spPr>
          <a:xfrm>
            <a:off x="1017041" y="3049271"/>
            <a:ext cx="289351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7CFDA"/>
                </a:solidFill>
                <a:latin typeface="IBM Plex Sans" pitchFamily="34" charset="0"/>
                <a:ea typeface="IBM Plex Sans" pitchFamily="34" charset="-122"/>
                <a:cs typeface="IBM Plex Sans" pitchFamily="34" charset="-120"/>
              </a:rPr>
              <a:t>Validation</a:t>
            </a:r>
            <a:endParaRPr lang="en-US" sz="1200" dirty="0"/>
          </a:p>
        </p:txBody>
      </p:sp>
      <p:pic>
        <p:nvPicPr>
          <p:cNvPr id="11" name="Image 2" descr="arrow-down">    </p:cNvPr>
          <p:cNvPicPr>
            <a:picLocks noChangeAspect="1"/>
          </p:cNvPicPr>
          <p:nvPr/>
        </p:nvPicPr>
        <p:blipFill>
          <a:blip r:embed="rId3"/>
          <a:srcRect l="0" r="0" t="0" b="0"/>
          <a:stretch/>
        </p:blipFill>
        <p:spPr>
          <a:xfrm>
            <a:off x="2400300" y="3458211"/>
            <a:ext cx="127000" cy="139700"/>
          </a:xfrm>
          <a:prstGeom prst="rect">
            <a:avLst/>
          </a:prstGeom>
        </p:spPr>
      </p:pic>
      <p:sp>
        <p:nvSpPr>
          <p:cNvPr id="12" name="Shape 7"/>
          <p:cNvSpPr/>
          <p:nvPr/>
        </p:nvSpPr>
        <p:spPr>
          <a:xfrm>
            <a:off x="1006475" y="3689986"/>
            <a:ext cx="2914650" cy="420370"/>
          </a:xfrm>
          <a:prstGeom prst="roundRect">
            <a:avLst>
              <a:gd name="adj" fmla="val 14350"/>
            </a:avLst>
          </a:prstGeom>
          <a:solidFill>
            <a:srgbClr val="1B2433"/>
          </a:solidFill>
          <a:ln w="6350">
            <a:solidFill>
              <a:srgbClr val="2A3548"/>
            </a:solidFill>
            <a:prstDash val="solid"/>
          </a:ln>
        </p:spPr>
      </p:sp>
      <p:sp>
        <p:nvSpPr>
          <p:cNvPr id="13" name="Text 8"/>
          <p:cNvSpPr/>
          <p:nvPr/>
        </p:nvSpPr>
        <p:spPr>
          <a:xfrm>
            <a:off x="1017041" y="3793491"/>
            <a:ext cx="289351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7CFDA"/>
                </a:solidFill>
                <a:latin typeface="IBM Plex Sans" pitchFamily="34" charset="0"/>
                <a:ea typeface="IBM Plex Sans" pitchFamily="34" charset="-122"/>
                <a:cs typeface="IBM Plex Sans" pitchFamily="34" charset="-120"/>
              </a:rPr>
              <a:t>Audit Columns</a:t>
            </a:r>
            <a:endParaRPr lang="en-US" sz="1200" dirty="0"/>
          </a:p>
        </p:txBody>
      </p:sp>
      <p:pic>
        <p:nvPicPr>
          <p:cNvPr id="14" name="Image 3" descr="arrow-down">    </p:cNvPr>
          <p:cNvPicPr>
            <a:picLocks noChangeAspect="1"/>
          </p:cNvPicPr>
          <p:nvPr/>
        </p:nvPicPr>
        <p:blipFill>
          <a:blip r:embed="rId4"/>
          <a:srcRect l="0" r="0" t="0" b="0"/>
          <a:stretch/>
        </p:blipFill>
        <p:spPr>
          <a:xfrm>
            <a:off x="2400300" y="4202430"/>
            <a:ext cx="127000" cy="139700"/>
          </a:xfrm>
          <a:prstGeom prst="rect">
            <a:avLst/>
          </a:prstGeom>
        </p:spPr>
      </p:pic>
      <p:sp>
        <p:nvSpPr>
          <p:cNvPr id="15" name="Shape 9"/>
          <p:cNvSpPr/>
          <p:nvPr/>
        </p:nvSpPr>
        <p:spPr>
          <a:xfrm>
            <a:off x="1006475" y="4434205"/>
            <a:ext cx="2914650" cy="420370"/>
          </a:xfrm>
          <a:prstGeom prst="roundRect">
            <a:avLst>
              <a:gd name="adj" fmla="val 14350"/>
            </a:avLst>
          </a:prstGeom>
          <a:solidFill>
            <a:srgbClr val="132A26"/>
          </a:solidFill>
          <a:ln w="6350">
            <a:solidFill>
              <a:srgbClr val="1E4640"/>
            </a:solidFill>
            <a:prstDash val="solid"/>
          </a:ln>
        </p:spPr>
      </p:sp>
      <p:sp>
        <p:nvSpPr>
          <p:cNvPr id="16" name="Text 10"/>
          <p:cNvSpPr/>
          <p:nvPr/>
        </p:nvSpPr>
        <p:spPr>
          <a:xfrm>
            <a:off x="1017041" y="4537710"/>
            <a:ext cx="289351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AD9C4"/>
                </a:solidFill>
                <a:latin typeface="IBM Plex Sans" pitchFamily="34" charset="0"/>
                <a:ea typeface="IBM Plex Sans" pitchFamily="34" charset="-122"/>
                <a:cs typeface="IBM Plex Sans" pitchFamily="34" charset="-120"/>
              </a:rPr>
              <a:t>Processed Analytical Model</a:t>
            </a:r>
            <a:endParaRPr lang="en-US" sz="1200" dirty="0"/>
          </a:p>
        </p:txBody>
      </p:sp>
      <p:sp>
        <p:nvSpPr>
          <p:cNvPr id="17" name="Shape 11"/>
          <p:cNvSpPr/>
          <p:nvPr/>
        </p:nvSpPr>
        <p:spPr>
          <a:xfrm>
            <a:off x="4371975" y="1457325"/>
            <a:ext cx="7004050" cy="3397250"/>
          </a:xfrm>
          <a:prstGeom prst="roundRect">
            <a:avLst>
              <a:gd name="adj" fmla="val 2897"/>
            </a:avLst>
          </a:prstGeom>
          <a:solidFill>
            <a:srgbClr val="151C28"/>
          </a:solidFill>
          <a:ln w="6350">
            <a:solidFill>
              <a:srgbClr val="232C3A"/>
            </a:solidFill>
            <a:prstDash val="solid"/>
          </a:ln>
        </p:spPr>
      </p:sp>
      <p:sp>
        <p:nvSpPr>
          <p:cNvPr id="18" name="Text 12"/>
          <p:cNvSpPr/>
          <p:nvPr/>
        </p:nvSpPr>
        <p:spPr>
          <a:xfrm>
            <a:off x="4577080" y="1662430"/>
            <a:ext cx="6791655"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4E8BFF"/>
                </a:solidFill>
                <a:latin typeface="IBM Plex Sans" pitchFamily="34" charset="0"/>
                <a:ea typeface="IBM Plex Sans" pitchFamily="34" charset="-122"/>
                <a:cs typeface="IBM Plex Sans" pitchFamily="34" charset="-120"/>
              </a:rPr>
              <a:t>What the rescue actually does</a:t>
            </a:r>
            <a:endParaRPr lang="en-US" sz="1300" dirty="0"/>
          </a:p>
        </p:txBody>
      </p:sp>
      <p:sp>
        <p:nvSpPr>
          <p:cNvPr id="19" name="Text 13"/>
          <p:cNvSpPr/>
          <p:nvPr/>
        </p:nvSpPr>
        <p:spPr>
          <a:xfrm>
            <a:off x="4577080" y="1936750"/>
            <a:ext cx="6791655" cy="1625600"/>
          </a:xfrm>
          <a:prstGeom prst="rect">
            <a:avLst/>
          </a:prstGeom>
          <a:noFill/>
          <a:ln/>
        </p:spPr>
        <p:txBody>
          <a:bodyPr wrap="square" lIns="0" tIns="0" rIns="0" bIns="0" rtlCol="0" anchor="t">
            <a:normAutofit/>
          </a:bodyPr>
          <a:lstStyle/>
          <a:p>
            <a:pPr algn="l" marL="342900" indent="-342900">
              <a:lnSpc>
                <a:spcPts val="1800"/>
              </a:lnSpc>
              <a:buSzPct val="100000"/>
              <a:buChar char="•"/>
            </a:pPr>
            <a:r>
              <a:rPr lang="en-US" sz="1200" dirty="0">
                <a:solidFill>
                  <a:srgbClr val="C7CFDA"/>
                </a:solidFill>
                <a:latin typeface="IBM Plex Sans" pitchFamily="34" charset="0"/>
                <a:ea typeface="IBM Plex Sans" pitchFamily="34" charset="-122"/>
                <a:cs typeface="IBM Plex Sans" pitchFamily="34" charset="-120"/>
              </a:rPr>
              <a:t>Currency symbols, commas and sign corruption cleaned</a:t>
            </a:r>
            <a:endParaRPr lang="en-US" sz="1200" dirty="0"/>
          </a:p>
          <a:p>
            <a:pPr algn="l" marL="342900" indent="-342900">
              <a:lnSpc>
                <a:spcPts val="1800"/>
              </a:lnSpc>
              <a:buSzPct val="100000"/>
              <a:buChar char="•"/>
            </a:pPr>
            <a:r>
              <a:rPr lang="en-US" sz="1200" dirty="0">
                <a:solidFill>
                  <a:srgbClr val="C7CFDA"/>
                </a:solidFill>
                <a:latin typeface="IBM Plex Sans" pitchFamily="34" charset="0"/>
                <a:ea typeface="IBM Plex Sans" pitchFamily="34" charset="-122"/>
                <a:cs typeface="IBM Plex Sans" pitchFamily="34" charset="-120"/>
              </a:rPr>
              <a:t>Original values preserved in *_raw audit columns</a:t>
            </a:r>
            <a:endParaRPr lang="en-US" sz="1200" dirty="0"/>
          </a:p>
          <a:p>
            <a:pPr algn="l" marL="342900" indent="-342900">
              <a:lnSpc>
                <a:spcPts val="1800"/>
              </a:lnSpc>
              <a:buSzPct val="100000"/>
              <a:buChar char="•"/>
            </a:pPr>
            <a:r>
              <a:rPr lang="en-US" sz="1200" dirty="0">
                <a:solidFill>
                  <a:srgbClr val="C7CFDA"/>
                </a:solidFill>
                <a:latin typeface="IBM Plex Sans" pitchFamily="34" charset="0"/>
                <a:ea typeface="IBM Plex Sans" pitchFamily="34" charset="-122"/>
                <a:cs typeface="IBM Plex Sans" pitchFamily="34" charset="-120"/>
              </a:rPr>
              <a:t>6 raw ID-format variants normalized</a:t>
            </a:r>
            <a:endParaRPr lang="en-US" sz="1200" dirty="0"/>
          </a:p>
          <a:p>
            <a:pPr algn="l" marL="342900" indent="-342900">
              <a:lnSpc>
                <a:spcPts val="1800"/>
              </a:lnSpc>
              <a:buSzPct val="100000"/>
              <a:buChar char="•"/>
            </a:pPr>
            <a:r>
              <a:rPr lang="en-US" sz="1200" dirty="0">
                <a:solidFill>
                  <a:srgbClr val="C7CFDA"/>
                </a:solidFill>
                <a:latin typeface="IBM Plex Sans" pitchFamily="34" charset="0"/>
                <a:ea typeface="IBM Plex Sans" pitchFamily="34" charset="-122"/>
                <a:cs typeface="IBM Plex Sans" pitchFamily="34" charset="-120"/>
              </a:rPr>
              <a:t>Unix epoch timestamps detected and converted</a:t>
            </a:r>
            <a:endParaRPr lang="en-US" sz="1200" dirty="0"/>
          </a:p>
          <a:p>
            <a:pPr algn="l" marL="342900" indent="-342900">
              <a:lnSpc>
                <a:spcPts val="1800"/>
              </a:lnSpc>
              <a:buSzPct val="100000"/>
              <a:buChar char="•"/>
            </a:pPr>
            <a:r>
              <a:rPr lang="en-US" sz="1200" dirty="0">
                <a:solidFill>
                  <a:srgbClr val="C7CFDA"/>
                </a:solidFill>
                <a:latin typeface="IBM Plex Sans" pitchFamily="34" charset="0"/>
                <a:ea typeface="IBM Plex Sans" pitchFamily="34" charset="-122"/>
                <a:cs typeface="IBM Plex Sans" pitchFamily="34" charset="-120"/>
              </a:rPr>
              <a:t>Multiple status/category coding schemes unified</a:t>
            </a:r>
            <a:endParaRPr lang="en-US" sz="1200" dirty="0"/>
          </a:p>
          <a:p>
            <a:pPr algn="l" marL="342900" indent="-342900">
              <a:lnSpc>
                <a:spcPts val="1800"/>
              </a:lnSpc>
              <a:buSzPct val="100000"/>
              <a:buChar char="•"/>
            </a:pPr>
            <a:r>
              <a:rPr lang="en-US" sz="1200" dirty="0">
                <a:solidFill>
                  <a:srgbClr val="C7CFDA"/>
                </a:solidFill>
                <a:latin typeface="IBM Plex Sans" pitchFamily="34" charset="0"/>
                <a:ea typeface="IBM Plex Sans" pitchFamily="34" charset="-122"/>
                <a:cs typeface="IBM Plex Sans" pitchFamily="34" charset="-120"/>
              </a:rPr>
              <a:t>Invalid or ambiguous values flagged, never silently deleted</a:t>
            </a:r>
            <a:endParaRPr lang="en-US" sz="1200" dirty="0"/>
          </a:p>
          <a:p>
            <a:pPr algn="l" marL="342900" indent="-342900">
              <a:lnSpc>
                <a:spcPts val="1800"/>
              </a:lnSpc>
              <a:buSzPct val="100000"/>
              <a:buChar char="•"/>
            </a:pPr>
            <a:r>
              <a:rPr lang="en-US" sz="1200" dirty="0">
                <a:solidFill>
                  <a:srgbClr val="C7CFDA"/>
                </a:solidFill>
                <a:latin typeface="IBM Plex Sans" pitchFamily="34" charset="0"/>
                <a:ea typeface="IBM Plex Sans" pitchFamily="34" charset="-122"/>
                <a:cs typeface="IBM Plex Sans" pitchFamily="34" charset="-120"/>
              </a:rPr>
              <a:t>Only exact full-row duplicates dropped</a:t>
            </a:r>
            <a:endParaRPr lang="en-US" sz="1200" dirty="0"/>
          </a:p>
        </p:txBody>
      </p:sp>
      <p:sp>
        <p:nvSpPr>
          <p:cNvPr id="20" name="Shape 14"/>
          <p:cNvSpPr/>
          <p:nvPr/>
        </p:nvSpPr>
        <p:spPr>
          <a:xfrm>
            <a:off x="815975" y="5064125"/>
            <a:ext cx="10560050" cy="664210"/>
          </a:xfrm>
          <a:prstGeom prst="roundRect">
            <a:avLst>
              <a:gd name="adj" fmla="val 12906"/>
            </a:avLst>
          </a:prstGeom>
          <a:solidFill>
            <a:srgbClr val="132A26"/>
          </a:solidFill>
          <a:ln w="6350">
            <a:solidFill>
              <a:srgbClr val="1E4640"/>
            </a:solidFill>
            <a:prstDash val="solid"/>
          </a:ln>
        </p:spPr>
      </p:sp>
      <p:sp>
        <p:nvSpPr>
          <p:cNvPr id="21" name="Text 15"/>
          <p:cNvSpPr/>
          <p:nvPr/>
        </p:nvSpPr>
        <p:spPr>
          <a:xfrm>
            <a:off x="764184" y="5218430"/>
            <a:ext cx="10663631"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2AD9C4"/>
                </a:solidFill>
                <a:latin typeface="Space Grotesk" pitchFamily="34" charset="0"/>
                <a:ea typeface="Space Grotesk" pitchFamily="34" charset="-122"/>
                <a:cs typeface="Space Grotesk" pitchFamily="34" charset="-120"/>
              </a:rPr>
              <a:t>97–99.8% row retention across cleaning</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812800" y="812800"/>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2F5F8"/>
                </a:solidFill>
                <a:latin typeface="Space Grotesk" pitchFamily="34" charset="0"/>
                <a:ea typeface="Space Grotesk" pitchFamily="34" charset="-122"/>
                <a:cs typeface="Space Grotesk" pitchFamily="34" charset="-120"/>
              </a:rPr>
              <a:t>Architecture: From Raw CSVs To Insight</a:t>
            </a:r>
            <a:endParaRPr lang="en-US" sz="2800" dirty="0"/>
          </a:p>
        </p:txBody>
      </p:sp>
      <p:sp>
        <p:nvSpPr>
          <p:cNvPr id="3" name="Shape 1"/>
          <p:cNvSpPr/>
          <p:nvPr/>
        </p:nvSpPr>
        <p:spPr>
          <a:xfrm>
            <a:off x="4575175" y="1377314"/>
            <a:ext cx="3041650" cy="394970"/>
          </a:xfrm>
          <a:prstGeom prst="roundRect">
            <a:avLst>
              <a:gd name="adj" fmla="val 15273"/>
            </a:avLst>
          </a:prstGeom>
          <a:solidFill>
            <a:srgbClr val="1B2433"/>
          </a:solidFill>
          <a:ln w="6350">
            <a:solidFill>
              <a:srgbClr val="2A3548"/>
            </a:solidFill>
            <a:prstDash val="solid"/>
          </a:ln>
        </p:spPr>
      </p:sp>
      <p:sp>
        <p:nvSpPr>
          <p:cNvPr id="4" name="Text 2"/>
          <p:cNvSpPr/>
          <p:nvPr/>
        </p:nvSpPr>
        <p:spPr>
          <a:xfrm>
            <a:off x="4583836" y="1468119"/>
            <a:ext cx="302432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7CFDA"/>
                </a:solidFill>
                <a:latin typeface="IBM Plex Sans" pitchFamily="34" charset="0"/>
                <a:ea typeface="IBM Plex Sans" pitchFamily="34" charset="-122"/>
                <a:cs typeface="IBM Plex Sans" pitchFamily="34" charset="-120"/>
              </a:rPr>
              <a:t>RAW CSV / JSON</a:t>
            </a:r>
            <a:endParaRPr lang="en-US" sz="1200" dirty="0"/>
          </a:p>
        </p:txBody>
      </p:sp>
      <p:pic>
        <p:nvPicPr>
          <p:cNvPr id="5" name="Image 0" descr="arrow-down">    </p:cNvPr>
          <p:cNvPicPr>
            <a:picLocks noChangeAspect="1"/>
          </p:cNvPicPr>
          <p:nvPr/>
        </p:nvPicPr>
        <p:blipFill>
          <a:blip r:embed="rId1"/>
          <a:srcRect l="0" r="0" t="0" b="0"/>
          <a:stretch/>
        </p:blipFill>
        <p:spPr>
          <a:xfrm>
            <a:off x="6038850" y="1864361"/>
            <a:ext cx="114300" cy="114300"/>
          </a:xfrm>
          <a:prstGeom prst="rect">
            <a:avLst/>
          </a:prstGeom>
        </p:spPr>
      </p:pic>
      <p:sp>
        <p:nvSpPr>
          <p:cNvPr id="6" name="Shape 3"/>
          <p:cNvSpPr/>
          <p:nvPr/>
        </p:nvSpPr>
        <p:spPr>
          <a:xfrm>
            <a:off x="4575175" y="2070736"/>
            <a:ext cx="3041650" cy="394970"/>
          </a:xfrm>
          <a:prstGeom prst="roundRect">
            <a:avLst>
              <a:gd name="adj" fmla="val 15273"/>
            </a:avLst>
          </a:prstGeom>
          <a:solidFill>
            <a:srgbClr val="1B2433"/>
          </a:solidFill>
          <a:ln w="6350">
            <a:solidFill>
              <a:srgbClr val="2A3548"/>
            </a:solidFill>
            <a:prstDash val="solid"/>
          </a:ln>
        </p:spPr>
      </p:sp>
      <p:sp>
        <p:nvSpPr>
          <p:cNvPr id="7" name="Text 4"/>
          <p:cNvSpPr/>
          <p:nvPr/>
        </p:nvSpPr>
        <p:spPr>
          <a:xfrm>
            <a:off x="4583836" y="2161541"/>
            <a:ext cx="302432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7CFDA"/>
                </a:solidFill>
                <a:latin typeface="JetBrains Mono" pitchFamily="34" charset="0"/>
                <a:ea typeface="JetBrains Mono" pitchFamily="34" charset="-122"/>
                <a:cs typeface="JetBrains Mono" pitchFamily="34" charset="-120"/>
              </a:rPr>
              <a:t>src/cleaning/*</a:t>
            </a:r>
            <a:endParaRPr lang="en-US" sz="1200" dirty="0"/>
          </a:p>
        </p:txBody>
      </p:sp>
      <p:pic>
        <p:nvPicPr>
          <p:cNvPr id="8" name="Image 1" descr="arrow-down">    </p:cNvPr>
          <p:cNvPicPr>
            <a:picLocks noChangeAspect="1"/>
          </p:cNvPicPr>
          <p:nvPr/>
        </p:nvPicPr>
        <p:blipFill>
          <a:blip r:embed="rId2"/>
          <a:srcRect l="0" r="0" t="0" b="0"/>
          <a:stretch/>
        </p:blipFill>
        <p:spPr>
          <a:xfrm>
            <a:off x="6038850" y="2557782"/>
            <a:ext cx="114300" cy="114300"/>
          </a:xfrm>
          <a:prstGeom prst="rect">
            <a:avLst/>
          </a:prstGeom>
        </p:spPr>
      </p:pic>
      <p:sp>
        <p:nvSpPr>
          <p:cNvPr id="9" name="Shape 5"/>
          <p:cNvSpPr/>
          <p:nvPr/>
        </p:nvSpPr>
        <p:spPr>
          <a:xfrm>
            <a:off x="4575175" y="2764157"/>
            <a:ext cx="3041650" cy="394970"/>
          </a:xfrm>
          <a:prstGeom prst="roundRect">
            <a:avLst>
              <a:gd name="adj" fmla="val 15273"/>
            </a:avLst>
          </a:prstGeom>
          <a:solidFill>
            <a:srgbClr val="1B2433"/>
          </a:solidFill>
          <a:ln w="6350">
            <a:solidFill>
              <a:srgbClr val="2A3548"/>
            </a:solidFill>
            <a:prstDash val="solid"/>
          </a:ln>
        </p:spPr>
      </p:sp>
      <p:sp>
        <p:nvSpPr>
          <p:cNvPr id="10" name="Text 6"/>
          <p:cNvSpPr/>
          <p:nvPr/>
        </p:nvSpPr>
        <p:spPr>
          <a:xfrm>
            <a:off x="4583836" y="2854962"/>
            <a:ext cx="302432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7CFDA"/>
                </a:solidFill>
                <a:latin typeface="JetBrains Mono" pitchFamily="34" charset="0"/>
                <a:ea typeface="JetBrains Mono" pitchFamily="34" charset="-122"/>
                <a:cs typeface="JetBrains Mono" pitchFamily="34" charset="-120"/>
              </a:rPr>
              <a:t>data/processed/*.parquet</a:t>
            </a:r>
            <a:endParaRPr lang="en-US" sz="1200" dirty="0"/>
          </a:p>
        </p:txBody>
      </p:sp>
      <p:pic>
        <p:nvPicPr>
          <p:cNvPr id="11" name="Image 2" descr="arrow-down">    </p:cNvPr>
          <p:cNvPicPr>
            <a:picLocks noChangeAspect="1"/>
          </p:cNvPicPr>
          <p:nvPr/>
        </p:nvPicPr>
        <p:blipFill>
          <a:blip r:embed="rId3"/>
          <a:srcRect l="0" r="0" t="0" b="0"/>
          <a:stretch/>
        </p:blipFill>
        <p:spPr>
          <a:xfrm>
            <a:off x="6038850" y="3251200"/>
            <a:ext cx="114300" cy="114300"/>
          </a:xfrm>
          <a:prstGeom prst="rect">
            <a:avLst/>
          </a:prstGeom>
        </p:spPr>
      </p:pic>
      <p:sp>
        <p:nvSpPr>
          <p:cNvPr id="12" name="Shape 7"/>
          <p:cNvSpPr/>
          <p:nvPr/>
        </p:nvSpPr>
        <p:spPr>
          <a:xfrm>
            <a:off x="4575175" y="3457575"/>
            <a:ext cx="3041650" cy="394970"/>
          </a:xfrm>
          <a:prstGeom prst="roundRect">
            <a:avLst>
              <a:gd name="adj" fmla="val 15273"/>
            </a:avLst>
          </a:prstGeom>
          <a:solidFill>
            <a:srgbClr val="1B2433"/>
          </a:solidFill>
          <a:ln w="6350">
            <a:solidFill>
              <a:srgbClr val="2A3548"/>
            </a:solidFill>
            <a:prstDash val="solid"/>
          </a:ln>
        </p:spPr>
      </p:sp>
      <p:sp>
        <p:nvSpPr>
          <p:cNvPr id="13" name="Text 8"/>
          <p:cNvSpPr/>
          <p:nvPr/>
        </p:nvSpPr>
        <p:spPr>
          <a:xfrm>
            <a:off x="4583836" y="3548380"/>
            <a:ext cx="302432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7CFDA"/>
                </a:solidFill>
                <a:latin typeface="JetBrains Mono" pitchFamily="34" charset="0"/>
                <a:ea typeface="JetBrains Mono" pitchFamily="34" charset="-122"/>
                <a:cs typeface="JetBrains Mono" pitchFamily="34" charset="-120"/>
              </a:rPr>
              <a:t>src/analytics/*</a:t>
            </a:r>
            <a:endParaRPr lang="en-US" sz="1200" dirty="0"/>
          </a:p>
        </p:txBody>
      </p:sp>
      <p:pic>
        <p:nvPicPr>
          <p:cNvPr id="14" name="Image 3" descr="arrow-down">    </p:cNvPr>
          <p:cNvPicPr>
            <a:picLocks noChangeAspect="1"/>
          </p:cNvPicPr>
          <p:nvPr/>
        </p:nvPicPr>
        <p:blipFill>
          <a:blip r:embed="rId4"/>
          <a:srcRect l="0" r="0" t="0" b="0"/>
          <a:stretch/>
        </p:blipFill>
        <p:spPr>
          <a:xfrm>
            <a:off x="6038850" y="3944621"/>
            <a:ext cx="114300" cy="114300"/>
          </a:xfrm>
          <a:prstGeom prst="rect">
            <a:avLst/>
          </a:prstGeom>
        </p:spPr>
      </p:pic>
      <p:sp>
        <p:nvSpPr>
          <p:cNvPr id="15" name="Shape 9"/>
          <p:cNvSpPr/>
          <p:nvPr/>
        </p:nvSpPr>
        <p:spPr>
          <a:xfrm>
            <a:off x="3990975" y="4150996"/>
            <a:ext cx="2025650" cy="420370"/>
          </a:xfrm>
          <a:prstGeom prst="roundRect">
            <a:avLst>
              <a:gd name="adj" fmla="val 14350"/>
            </a:avLst>
          </a:prstGeom>
          <a:solidFill>
            <a:srgbClr val="2A1A14"/>
          </a:solidFill>
          <a:ln w="6350">
            <a:solidFill>
              <a:srgbClr val="4A2A1E"/>
            </a:solidFill>
            <a:prstDash val="solid"/>
          </a:ln>
        </p:spPr>
      </p:sp>
      <p:sp>
        <p:nvSpPr>
          <p:cNvPr id="16" name="Text 10"/>
          <p:cNvSpPr/>
          <p:nvPr/>
        </p:nvSpPr>
        <p:spPr>
          <a:xfrm>
            <a:off x="4014876" y="4254501"/>
            <a:ext cx="197784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7A45"/>
                </a:solidFill>
                <a:latin typeface="IBM Plex Sans" pitchFamily="34" charset="0"/>
                <a:ea typeface="IBM Plex Sans" pitchFamily="34" charset="-122"/>
                <a:cs typeface="IBM Plex Sans" pitchFamily="34" charset="-120"/>
              </a:rPr>
              <a:t>Fraud Risk Engine</a:t>
            </a:r>
            <a:endParaRPr lang="en-US" sz="1200" dirty="0"/>
          </a:p>
        </p:txBody>
      </p:sp>
      <p:sp>
        <p:nvSpPr>
          <p:cNvPr id="17" name="Shape 11"/>
          <p:cNvSpPr/>
          <p:nvPr/>
        </p:nvSpPr>
        <p:spPr>
          <a:xfrm>
            <a:off x="6175375" y="4150996"/>
            <a:ext cx="2025650" cy="420370"/>
          </a:xfrm>
          <a:prstGeom prst="roundRect">
            <a:avLst>
              <a:gd name="adj" fmla="val 14350"/>
            </a:avLst>
          </a:prstGeom>
          <a:solidFill>
            <a:srgbClr val="12222A"/>
          </a:solidFill>
          <a:ln w="6350">
            <a:solidFill>
              <a:srgbClr val="1E3A46"/>
            </a:solidFill>
            <a:prstDash val="solid"/>
          </a:ln>
        </p:spPr>
      </p:sp>
      <p:sp>
        <p:nvSpPr>
          <p:cNvPr id="18" name="Text 12"/>
          <p:cNvSpPr/>
          <p:nvPr/>
        </p:nvSpPr>
        <p:spPr>
          <a:xfrm>
            <a:off x="6199276" y="4254501"/>
            <a:ext cx="197784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E8BFF"/>
                </a:solidFill>
                <a:latin typeface="IBM Plex Sans" pitchFamily="34" charset="0"/>
                <a:ea typeface="IBM Plex Sans" pitchFamily="34" charset="-122"/>
                <a:cs typeface="IBM Plex Sans" pitchFamily="34" charset="-120"/>
              </a:rPr>
              <a:t>Network Analysis</a:t>
            </a:r>
            <a:endParaRPr lang="en-US" sz="1200" dirty="0"/>
          </a:p>
        </p:txBody>
      </p:sp>
      <p:pic>
        <p:nvPicPr>
          <p:cNvPr id="19" name="Image 4" descr="arrow-down">    </p:cNvPr>
          <p:cNvPicPr>
            <a:picLocks noChangeAspect="1"/>
          </p:cNvPicPr>
          <p:nvPr/>
        </p:nvPicPr>
        <p:blipFill>
          <a:blip r:embed="rId5"/>
          <a:srcRect l="0" r="0" t="0" b="0"/>
          <a:stretch/>
        </p:blipFill>
        <p:spPr>
          <a:xfrm>
            <a:off x="6038850" y="4663439"/>
            <a:ext cx="114300" cy="114300"/>
          </a:xfrm>
          <a:prstGeom prst="rect">
            <a:avLst/>
          </a:prstGeom>
        </p:spPr>
      </p:pic>
      <p:sp>
        <p:nvSpPr>
          <p:cNvPr id="20" name="Shape 13"/>
          <p:cNvSpPr/>
          <p:nvPr/>
        </p:nvSpPr>
        <p:spPr>
          <a:xfrm>
            <a:off x="3648075" y="4869814"/>
            <a:ext cx="2660650" cy="420370"/>
          </a:xfrm>
          <a:prstGeom prst="roundRect">
            <a:avLst>
              <a:gd name="adj" fmla="val 14350"/>
            </a:avLst>
          </a:prstGeom>
          <a:solidFill>
            <a:srgbClr val="132A26"/>
          </a:solidFill>
          <a:ln w="6350">
            <a:solidFill>
              <a:srgbClr val="1E4640"/>
            </a:solidFill>
            <a:prstDash val="solid"/>
          </a:ln>
        </p:spPr>
      </p:sp>
      <p:sp>
        <p:nvSpPr>
          <p:cNvPr id="21" name="Text 14"/>
          <p:cNvSpPr/>
          <p:nvPr/>
        </p:nvSpPr>
        <p:spPr>
          <a:xfrm>
            <a:off x="3662451" y="4973319"/>
            <a:ext cx="2631897"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AD9C4"/>
                </a:solidFill>
                <a:latin typeface="IBM Plex Sans" pitchFamily="34" charset="0"/>
                <a:ea typeface="IBM Plex Sans" pitchFamily="34" charset="-122"/>
                <a:cs typeface="IBM Plex Sans" pitchFamily="34" charset="-120"/>
              </a:rPr>
              <a:t>Dashboard — Streamlit + Plotly</a:t>
            </a:r>
            <a:endParaRPr lang="en-US" sz="1200" dirty="0"/>
          </a:p>
        </p:txBody>
      </p:sp>
      <p:sp>
        <p:nvSpPr>
          <p:cNvPr id="22" name="Text 15"/>
          <p:cNvSpPr/>
          <p:nvPr/>
        </p:nvSpPr>
        <p:spPr>
          <a:xfrm>
            <a:off x="6438900" y="4937761"/>
            <a:ext cx="2540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472"/>
                </a:solidFill>
                <a:latin typeface="IBM Plex Sans" pitchFamily="34" charset="0"/>
                <a:ea typeface="IBM Plex Sans" pitchFamily="34" charset="-122"/>
                <a:cs typeface="IBM Plex Sans" pitchFamily="34" charset="-120"/>
              </a:rPr>
              <a:t>↔</a:t>
            </a:r>
            <a:endParaRPr lang="en-US" sz="1600" dirty="0"/>
          </a:p>
        </p:txBody>
      </p:sp>
      <p:sp>
        <p:nvSpPr>
          <p:cNvPr id="23" name="Shape 16"/>
          <p:cNvSpPr/>
          <p:nvPr/>
        </p:nvSpPr>
        <p:spPr>
          <a:xfrm>
            <a:off x="6772275" y="4869814"/>
            <a:ext cx="1771650" cy="420370"/>
          </a:xfrm>
          <a:prstGeom prst="roundRect">
            <a:avLst>
              <a:gd name="adj" fmla="val 14350"/>
            </a:avLst>
          </a:prstGeom>
          <a:solidFill>
            <a:srgbClr val="132A26"/>
          </a:solidFill>
          <a:ln w="6350">
            <a:solidFill>
              <a:srgbClr val="1E4640"/>
            </a:solidFill>
            <a:prstDash val="solid"/>
          </a:ln>
        </p:spPr>
      </p:sp>
      <p:sp>
        <p:nvSpPr>
          <p:cNvPr id="24" name="Text 17"/>
          <p:cNvSpPr/>
          <p:nvPr/>
        </p:nvSpPr>
        <p:spPr>
          <a:xfrm>
            <a:off x="6799580" y="4973319"/>
            <a:ext cx="171704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AD9C4"/>
                </a:solidFill>
                <a:latin typeface="IBM Plex Sans" pitchFamily="34" charset="0"/>
                <a:ea typeface="IBM Plex Sans" pitchFamily="34" charset="-122"/>
                <a:cs typeface="IBM Plex Sans" pitchFamily="34" charset="-120"/>
              </a:rPr>
              <a:t>AI Analyst</a:t>
            </a:r>
            <a:endParaRPr lang="en-US" sz="1200" dirty="0"/>
          </a:p>
        </p:txBody>
      </p:sp>
      <p:sp>
        <p:nvSpPr>
          <p:cNvPr id="25" name="Text 18"/>
          <p:cNvSpPr/>
          <p:nvPr/>
        </p:nvSpPr>
        <p:spPr>
          <a:xfrm>
            <a:off x="654304" y="5445761"/>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Python  ·  Pandas  ·  Parquet  ·  Streamlit  ·  Plotly  ·  NetworkX  ·  Deterministic Intent Router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10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A1109"/>
              </a:gs>
              <a:gs pos="60000">
                <a:srgbClr val="0F1620"/>
              </a:gs>
            </a:gsLst>
            <a:lin ang="4200000" scaled="0"/>
          </a:gradFill>
          <a:ln/>
        </p:spPr>
      </p:sp>
      <p:sp>
        <p:nvSpPr>
          <p:cNvPr id="3" name="Text 1"/>
          <p:cNvSpPr/>
          <p:nvPr/>
        </p:nvSpPr>
        <p:spPr>
          <a:xfrm>
            <a:off x="812800" y="812800"/>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2F5F8"/>
                </a:solidFill>
                <a:latin typeface="Space Grotesk" pitchFamily="34" charset="0"/>
                <a:ea typeface="Space Grotesk" pitchFamily="34" charset="-122"/>
                <a:cs typeface="Space Grotesk" pitchFamily="34" charset="-120"/>
              </a:rPr>
              <a:t>The Real First Finding: Identity Coverage</a:t>
            </a:r>
            <a:endParaRPr lang="en-US" sz="2800" dirty="0"/>
          </a:p>
        </p:txBody>
      </p:sp>
      <p:sp>
        <p:nvSpPr>
          <p:cNvPr id="4" name="Text 2"/>
          <p:cNvSpPr/>
          <p:nvPr/>
        </p:nvSpPr>
        <p:spPr>
          <a:xfrm>
            <a:off x="812800" y="1450339"/>
            <a:ext cx="9810750" cy="351155"/>
          </a:xfrm>
          <a:prstGeom prst="rect">
            <a:avLst/>
          </a:prstGeom>
          <a:noFill/>
          <a:ln/>
        </p:spPr>
        <p:txBody>
          <a:bodyPr wrap="square" lIns="0" tIns="0" rIns="0" bIns="0" rtlCol="0" anchor="t">
            <a:normAutofit/>
          </a:bodyPr>
          <a:lstStyle/>
          <a:p>
            <a:pPr algn="l" indent="0" marL="0">
              <a:lnSpc>
                <a:spcPts val="2565"/>
              </a:lnSpc>
              <a:buNone/>
            </a:pPr>
            <a:r>
              <a:rPr lang="en-US" sz="1900" b="1" dirty="0">
                <a:solidFill>
                  <a:srgbClr val="FF7A45"/>
                </a:solidFill>
                <a:latin typeface="Space Grotesk" pitchFamily="34" charset="0"/>
                <a:ea typeface="Space Grotesk" pitchFamily="34" charset="-122"/>
                <a:cs typeface="Space Grotesk" pitchFamily="34" charset="-120"/>
              </a:rPr>
              <a:t>Before detecting fraud, we discovered a deeper problem: data identity integrity.</a:t>
            </a:r>
            <a:endParaRPr lang="en-US" sz="1900" dirty="0"/>
          </a:p>
        </p:txBody>
      </p:sp>
      <p:sp>
        <p:nvSpPr>
          <p:cNvPr id="5" name="Shape 3"/>
          <p:cNvSpPr/>
          <p:nvPr/>
        </p:nvSpPr>
        <p:spPr>
          <a:xfrm>
            <a:off x="815975" y="2007871"/>
            <a:ext cx="5175250" cy="1253490"/>
          </a:xfrm>
          <a:prstGeom prst="roundRect">
            <a:avLst>
              <a:gd name="adj" fmla="val 7852"/>
            </a:avLst>
          </a:prstGeom>
          <a:solidFill>
            <a:srgbClr val="1F150E"/>
          </a:solidFill>
          <a:ln w="6350">
            <a:solidFill>
              <a:srgbClr val="3A2415"/>
            </a:solidFill>
            <a:prstDash val="solid"/>
          </a:ln>
        </p:spPr>
      </p:sp>
      <p:sp>
        <p:nvSpPr>
          <p:cNvPr id="6" name="Text 4"/>
          <p:cNvSpPr/>
          <p:nvPr/>
        </p:nvSpPr>
        <p:spPr>
          <a:xfrm>
            <a:off x="1021080" y="2212975"/>
            <a:ext cx="4907991"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C7CFDA"/>
                </a:solidFill>
                <a:latin typeface="IBM Plex Sans" pitchFamily="34" charset="0"/>
                <a:ea typeface="IBM Plex Sans" pitchFamily="34" charset="-122"/>
                <a:cs typeface="IBM Plex Sans" pitchFamily="34" charset="-120"/>
              </a:rPr>
              <a:t>KYC ↔ TRANSACTION JOIN</a:t>
            </a:r>
            <a:endParaRPr lang="en-US" sz="1100" dirty="0"/>
          </a:p>
        </p:txBody>
      </p:sp>
      <p:sp>
        <p:nvSpPr>
          <p:cNvPr id="7" name="Text 5"/>
          <p:cNvSpPr/>
          <p:nvPr/>
        </p:nvSpPr>
        <p:spPr>
          <a:xfrm>
            <a:off x="1021080" y="2446657"/>
            <a:ext cx="490799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7A45"/>
                </a:solidFill>
                <a:latin typeface="Space Grotesk" pitchFamily="34" charset="0"/>
                <a:ea typeface="Space Grotesk" pitchFamily="34" charset="-122"/>
                <a:cs typeface="Space Grotesk" pitchFamily="34" charset="-120"/>
              </a:rPr>
              <a:t>≈32%</a:t>
            </a:r>
            <a:endParaRPr lang="en-US" sz="4800" dirty="0"/>
          </a:p>
        </p:txBody>
      </p:sp>
      <p:sp>
        <p:nvSpPr>
          <p:cNvPr id="8" name="Shape 6"/>
          <p:cNvSpPr/>
          <p:nvPr/>
        </p:nvSpPr>
        <p:spPr>
          <a:xfrm>
            <a:off x="6200775" y="2007871"/>
            <a:ext cx="5175250" cy="1253490"/>
          </a:xfrm>
          <a:prstGeom prst="roundRect">
            <a:avLst>
              <a:gd name="adj" fmla="val 7852"/>
            </a:avLst>
          </a:prstGeom>
          <a:solidFill>
            <a:srgbClr val="1F150E"/>
          </a:solidFill>
          <a:ln w="6350">
            <a:solidFill>
              <a:srgbClr val="3A2415"/>
            </a:solidFill>
            <a:prstDash val="solid"/>
          </a:ln>
        </p:spPr>
      </p:sp>
      <p:sp>
        <p:nvSpPr>
          <p:cNvPr id="9" name="Text 7"/>
          <p:cNvSpPr/>
          <p:nvPr/>
        </p:nvSpPr>
        <p:spPr>
          <a:xfrm>
            <a:off x="6405880" y="2212975"/>
            <a:ext cx="4907991"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C7CFDA"/>
                </a:solidFill>
                <a:latin typeface="IBM Plex Sans" pitchFamily="34" charset="0"/>
                <a:ea typeface="IBM Plex Sans" pitchFamily="34" charset="-122"/>
                <a:cs typeface="IBM Plex Sans" pitchFamily="34" charset="-120"/>
              </a:rPr>
              <a:t>MERCHANT ↔ TRANSACTION JOIN</a:t>
            </a:r>
            <a:endParaRPr lang="en-US" sz="1100" dirty="0"/>
          </a:p>
        </p:txBody>
      </p:sp>
      <p:sp>
        <p:nvSpPr>
          <p:cNvPr id="10" name="Text 8"/>
          <p:cNvSpPr/>
          <p:nvPr/>
        </p:nvSpPr>
        <p:spPr>
          <a:xfrm>
            <a:off x="6405880" y="2446657"/>
            <a:ext cx="490799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7A45"/>
                </a:solidFill>
                <a:latin typeface="Space Grotesk" pitchFamily="34" charset="0"/>
                <a:ea typeface="Space Grotesk" pitchFamily="34" charset="-122"/>
                <a:cs typeface="Space Grotesk" pitchFamily="34" charset="-120"/>
              </a:rPr>
              <a:t>≈48%</a:t>
            </a:r>
            <a:endParaRPr lang="en-US" sz="4800" dirty="0"/>
          </a:p>
        </p:txBody>
      </p:sp>
      <p:sp>
        <p:nvSpPr>
          <p:cNvPr id="11" name="Text 9"/>
          <p:cNvSpPr/>
          <p:nvPr/>
        </p:nvSpPr>
        <p:spPr>
          <a:xfrm>
            <a:off x="812800" y="3493136"/>
            <a:ext cx="98107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B96A5"/>
                </a:solidFill>
                <a:latin typeface="IBM Plex Sans" pitchFamily="34" charset="0"/>
                <a:ea typeface="IBM Plex Sans" pitchFamily="34" charset="-122"/>
                <a:cs typeface="IBM Plex Sans" pitchFamily="34" charset="-120"/>
              </a:rPr>
              <a:t>Statistically indistinguishable from random ID overlap — per our documented baseline analysis.</a:t>
            </a:r>
            <a:endParaRPr lang="en-US" sz="1300" dirty="0"/>
          </a:p>
        </p:txBody>
      </p:sp>
      <p:sp>
        <p:nvSpPr>
          <p:cNvPr id="12" name="Shape 10"/>
          <p:cNvSpPr/>
          <p:nvPr/>
        </p:nvSpPr>
        <p:spPr>
          <a:xfrm>
            <a:off x="815975" y="3956050"/>
            <a:ext cx="2866549" cy="471170"/>
          </a:xfrm>
          <a:prstGeom prst="roundRect">
            <a:avLst>
              <a:gd name="adj" fmla="val 15499"/>
            </a:avLst>
          </a:prstGeom>
          <a:solidFill>
            <a:srgbClr val="1B2433"/>
          </a:solidFill>
          <a:ln w="6350">
            <a:solidFill>
              <a:srgbClr val="2A3548"/>
            </a:solidFill>
            <a:prstDash val="solid"/>
          </a:ln>
        </p:spPr>
      </p:sp>
      <p:sp>
        <p:nvSpPr>
          <p:cNvPr id="13" name="Text 11"/>
          <p:cNvSpPr/>
          <p:nvPr/>
        </p:nvSpPr>
        <p:spPr>
          <a:xfrm>
            <a:off x="853425" y="4084955"/>
            <a:ext cx="2791649"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8"/>
                </a:solidFill>
                <a:latin typeface="IBM Plex Sans" pitchFamily="34" charset="0"/>
                <a:ea typeface="IBM Plex Sans" pitchFamily="34" charset="-122"/>
                <a:cs typeface="IBM Plex Sans" pitchFamily="34" charset="-120"/>
              </a:rPr>
              <a:t>TRANSACTIONS</a:t>
            </a:r>
            <a:endParaRPr lang="en-US" sz="1200" dirty="0"/>
          </a:p>
        </p:txBody>
      </p:sp>
      <p:pic>
        <p:nvPicPr>
          <p:cNvPr id="14" name="Image 0" descr="arrow-right">    </p:cNvPr>
          <p:cNvPicPr>
            <a:picLocks noChangeAspect="1"/>
          </p:cNvPicPr>
          <p:nvPr/>
        </p:nvPicPr>
        <p:blipFill>
          <a:blip r:embed="rId1"/>
          <a:srcRect l="0" r="0" t="0" b="0"/>
          <a:stretch/>
        </p:blipFill>
        <p:spPr>
          <a:xfrm>
            <a:off x="3787299" y="4134486"/>
            <a:ext cx="228600" cy="114300"/>
          </a:xfrm>
          <a:prstGeom prst="rect">
            <a:avLst/>
          </a:prstGeom>
        </p:spPr>
      </p:pic>
      <p:sp>
        <p:nvSpPr>
          <p:cNvPr id="15" name="Shape 12"/>
          <p:cNvSpPr/>
          <p:nvPr/>
        </p:nvSpPr>
        <p:spPr>
          <a:xfrm>
            <a:off x="4120674" y="3956050"/>
            <a:ext cx="2866549" cy="471170"/>
          </a:xfrm>
          <a:prstGeom prst="roundRect">
            <a:avLst>
              <a:gd name="adj" fmla="val 15499"/>
            </a:avLst>
          </a:prstGeom>
          <a:solidFill>
            <a:srgbClr val="1B2433"/>
          </a:solidFill>
          <a:ln w="6350">
            <a:solidFill>
              <a:srgbClr val="2A3548"/>
            </a:solidFill>
            <a:prstDash val="solid"/>
          </a:ln>
        </p:spPr>
      </p:sp>
      <p:sp>
        <p:nvSpPr>
          <p:cNvPr id="16" name="Text 13"/>
          <p:cNvSpPr/>
          <p:nvPr/>
        </p:nvSpPr>
        <p:spPr>
          <a:xfrm>
            <a:off x="4158124" y="4084955"/>
            <a:ext cx="2791649"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8"/>
                </a:solidFill>
                <a:latin typeface="IBM Plex Sans" pitchFamily="34" charset="0"/>
                <a:ea typeface="IBM Plex Sans" pitchFamily="34" charset="-122"/>
                <a:cs typeface="IBM Plex Sans" pitchFamily="34" charset="-120"/>
              </a:rPr>
              <a:t>IDENTITY JOIN</a:t>
            </a:r>
            <a:endParaRPr lang="en-US" sz="1200" dirty="0"/>
          </a:p>
        </p:txBody>
      </p:sp>
      <p:pic>
        <p:nvPicPr>
          <p:cNvPr id="17" name="Image 1" descr="arrow-right">    </p:cNvPr>
          <p:cNvPicPr>
            <a:picLocks noChangeAspect="1"/>
          </p:cNvPicPr>
          <p:nvPr/>
        </p:nvPicPr>
        <p:blipFill>
          <a:blip r:embed="rId2"/>
          <a:srcRect l="0" r="0" t="0" b="0"/>
          <a:stretch/>
        </p:blipFill>
        <p:spPr>
          <a:xfrm>
            <a:off x="7091997" y="4134486"/>
            <a:ext cx="228600" cy="114300"/>
          </a:xfrm>
          <a:prstGeom prst="rect">
            <a:avLst/>
          </a:prstGeom>
        </p:spPr>
      </p:pic>
      <p:sp>
        <p:nvSpPr>
          <p:cNvPr id="18" name="Shape 14"/>
          <p:cNvSpPr/>
          <p:nvPr/>
        </p:nvSpPr>
        <p:spPr>
          <a:xfrm>
            <a:off x="7425372" y="3956050"/>
            <a:ext cx="3950653" cy="471170"/>
          </a:xfrm>
          <a:prstGeom prst="roundRect">
            <a:avLst>
              <a:gd name="adj" fmla="val 15499"/>
            </a:avLst>
          </a:prstGeom>
          <a:solidFill>
            <a:srgbClr val="2A1A14"/>
          </a:solidFill>
          <a:ln w="6350">
            <a:solidFill>
              <a:srgbClr val="4A2A1E"/>
            </a:solidFill>
            <a:prstDash val="solid"/>
          </a:ln>
        </p:spPr>
      </p:sp>
      <p:sp>
        <p:nvSpPr>
          <p:cNvPr id="19" name="Text 15"/>
          <p:cNvSpPr/>
          <p:nvPr/>
        </p:nvSpPr>
        <p:spPr>
          <a:xfrm>
            <a:off x="7446561" y="4084955"/>
            <a:ext cx="3908276"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7A45"/>
                </a:solidFill>
                <a:latin typeface="IBM Plex Sans" pitchFamily="34" charset="0"/>
                <a:ea typeface="IBM Plex Sans" pitchFamily="34" charset="-122"/>
                <a:cs typeface="IBM Plex Sans" pitchFamily="34" charset="-120"/>
              </a:rPr>
              <a:t>COVERAGE VISIBLE IN EVERY CHART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812800" y="812800"/>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2F5F8"/>
                </a:solidFill>
                <a:latin typeface="Space Grotesk" pitchFamily="34" charset="0"/>
                <a:ea typeface="Space Grotesk" pitchFamily="34" charset="-122"/>
                <a:cs typeface="Space Grotesk" pitchFamily="34" charset="-120"/>
              </a:rPr>
              <a:t>Fraud Risk &amp; Chargeback Signals</a:t>
            </a:r>
            <a:endParaRPr lang="en-US" sz="2800" dirty="0"/>
          </a:p>
        </p:txBody>
      </p:sp>
      <p:sp>
        <p:nvSpPr>
          <p:cNvPr id="3" name="Shape 1"/>
          <p:cNvSpPr/>
          <p:nvPr/>
        </p:nvSpPr>
        <p:spPr>
          <a:xfrm>
            <a:off x="815975" y="1402714"/>
            <a:ext cx="3397250" cy="1715770"/>
          </a:xfrm>
          <a:prstGeom prst="roundRect">
            <a:avLst>
              <a:gd name="adj" fmla="val 5736"/>
            </a:avLst>
          </a:prstGeom>
          <a:solidFill>
            <a:srgbClr val="151C28"/>
          </a:solidFill>
          <a:ln w="6350">
            <a:solidFill>
              <a:srgbClr val="232C3A"/>
            </a:solidFill>
            <a:prstDash val="solid"/>
          </a:ln>
        </p:spPr>
      </p:sp>
      <p:sp>
        <p:nvSpPr>
          <p:cNvPr id="4" name="Text 2"/>
          <p:cNvSpPr/>
          <p:nvPr/>
        </p:nvSpPr>
        <p:spPr>
          <a:xfrm>
            <a:off x="995680" y="1582421"/>
            <a:ext cx="3128975"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8B96A5"/>
                </a:solidFill>
                <a:latin typeface="IBM Plex Sans" pitchFamily="34" charset="0"/>
                <a:ea typeface="IBM Plex Sans" pitchFamily="34" charset="-122"/>
                <a:cs typeface="IBM Plex Sans" pitchFamily="34" charset="-120"/>
              </a:rPr>
              <a:t>CHARGEBACK-TO-TXN RATIO</a:t>
            </a:r>
            <a:endParaRPr lang="en-US" sz="1000" dirty="0"/>
          </a:p>
        </p:txBody>
      </p:sp>
      <p:sp>
        <p:nvSpPr>
          <p:cNvPr id="5" name="Text 3"/>
          <p:cNvSpPr/>
          <p:nvPr/>
        </p:nvSpPr>
        <p:spPr>
          <a:xfrm>
            <a:off x="995680" y="1798321"/>
            <a:ext cx="3128975"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2F5F8"/>
                </a:solidFill>
                <a:latin typeface="Space Grotesk" pitchFamily="34" charset="0"/>
                <a:ea typeface="Space Grotesk" pitchFamily="34" charset="-122"/>
                <a:cs typeface="Space Grotesk" pitchFamily="34" charset="-120"/>
              </a:rPr>
              <a:t>13.04%</a:t>
            </a:r>
            <a:endParaRPr lang="en-US" sz="4000" dirty="0"/>
          </a:p>
        </p:txBody>
      </p:sp>
      <p:sp>
        <p:nvSpPr>
          <p:cNvPr id="6" name="Shape 4"/>
          <p:cNvSpPr/>
          <p:nvPr/>
        </p:nvSpPr>
        <p:spPr>
          <a:xfrm>
            <a:off x="4397375" y="1402714"/>
            <a:ext cx="3397250" cy="1715770"/>
          </a:xfrm>
          <a:prstGeom prst="roundRect">
            <a:avLst>
              <a:gd name="adj" fmla="val 5736"/>
            </a:avLst>
          </a:prstGeom>
          <a:solidFill>
            <a:srgbClr val="151C28"/>
          </a:solidFill>
          <a:ln w="6350">
            <a:solidFill>
              <a:srgbClr val="232C3A"/>
            </a:solidFill>
            <a:prstDash val="solid"/>
          </a:ln>
        </p:spPr>
      </p:sp>
      <p:sp>
        <p:nvSpPr>
          <p:cNvPr id="7" name="Text 5"/>
          <p:cNvSpPr/>
          <p:nvPr/>
        </p:nvSpPr>
        <p:spPr>
          <a:xfrm>
            <a:off x="4577080" y="1582421"/>
            <a:ext cx="3128975"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8B96A5"/>
                </a:solidFill>
                <a:latin typeface="IBM Plex Sans" pitchFamily="34" charset="0"/>
                <a:ea typeface="IBM Plex Sans" pitchFamily="34" charset="-122"/>
                <a:cs typeface="IBM Plex Sans" pitchFamily="34" charset="-120"/>
              </a:rPr>
              <a:t>RELIABLY MATCHED</a:t>
            </a:r>
            <a:endParaRPr lang="en-US" sz="1000" dirty="0"/>
          </a:p>
        </p:txBody>
      </p:sp>
      <p:sp>
        <p:nvSpPr>
          <p:cNvPr id="8" name="Text 6"/>
          <p:cNvSpPr/>
          <p:nvPr/>
        </p:nvSpPr>
        <p:spPr>
          <a:xfrm>
            <a:off x="4577080" y="1798321"/>
            <a:ext cx="3128975"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2F5F8"/>
                </a:solidFill>
                <a:latin typeface="Space Grotesk" pitchFamily="34" charset="0"/>
                <a:ea typeface="Space Grotesk" pitchFamily="34" charset="-122"/>
                <a:cs typeface="Space Grotesk" pitchFamily="34" charset="-120"/>
              </a:rPr>
              <a:t>2,607 / 20,000</a:t>
            </a:r>
            <a:endParaRPr lang="en-US" sz="2600" dirty="0"/>
          </a:p>
        </p:txBody>
      </p:sp>
      <p:sp>
        <p:nvSpPr>
          <p:cNvPr id="9" name="Text 7"/>
          <p:cNvSpPr/>
          <p:nvPr/>
        </p:nvSpPr>
        <p:spPr>
          <a:xfrm>
            <a:off x="4577080" y="2166621"/>
            <a:ext cx="3128975"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B96A5"/>
                </a:solidFill>
                <a:latin typeface="IBM Plex Sans" pitchFamily="34" charset="0"/>
                <a:ea typeface="IBM Plex Sans" pitchFamily="34" charset="-122"/>
                <a:cs typeface="IBM Plex Sans" pitchFamily="34" charset="-120"/>
              </a:rPr>
              <a:t>via the high-coverage identity join</a:t>
            </a:r>
            <a:endParaRPr lang="en-US" sz="1000" dirty="0"/>
          </a:p>
        </p:txBody>
      </p:sp>
      <p:sp>
        <p:nvSpPr>
          <p:cNvPr id="10" name="Shape 8"/>
          <p:cNvSpPr/>
          <p:nvPr/>
        </p:nvSpPr>
        <p:spPr>
          <a:xfrm>
            <a:off x="7978775" y="1402714"/>
            <a:ext cx="3397250" cy="1715770"/>
          </a:xfrm>
          <a:prstGeom prst="roundRect">
            <a:avLst>
              <a:gd name="adj" fmla="val 5736"/>
            </a:avLst>
          </a:prstGeom>
          <a:solidFill>
            <a:srgbClr val="151C28"/>
          </a:solidFill>
          <a:ln w="6350">
            <a:solidFill>
              <a:srgbClr val="232C3A"/>
            </a:solidFill>
            <a:prstDash val="solid"/>
          </a:ln>
        </p:spPr>
      </p:sp>
      <p:sp>
        <p:nvSpPr>
          <p:cNvPr id="11" name="Text 9"/>
          <p:cNvSpPr/>
          <p:nvPr/>
        </p:nvSpPr>
        <p:spPr>
          <a:xfrm>
            <a:off x="8158480" y="1582421"/>
            <a:ext cx="3128975"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8B96A5"/>
                </a:solidFill>
                <a:latin typeface="IBM Plex Sans" pitchFamily="34" charset="0"/>
                <a:ea typeface="IBM Plex Sans" pitchFamily="34" charset="-122"/>
                <a:cs typeface="IBM Plex Sans" pitchFamily="34" charset="-120"/>
              </a:rPr>
              <a:t>CATEGORY: BONUS QUESTION</a:t>
            </a:r>
            <a:endParaRPr lang="en-US" sz="1000" dirty="0"/>
          </a:p>
        </p:txBody>
      </p:sp>
      <p:sp>
        <p:nvSpPr>
          <p:cNvPr id="12" name="Shape 10"/>
          <p:cNvSpPr/>
          <p:nvPr/>
        </p:nvSpPr>
        <p:spPr>
          <a:xfrm>
            <a:off x="8158480" y="1849121"/>
            <a:ext cx="406400" cy="546100"/>
          </a:xfrm>
          <a:prstGeom prst="roundRect">
            <a:avLst>
              <a:gd name="adj" fmla="val 9375"/>
            </a:avLst>
          </a:prstGeom>
          <a:solidFill>
            <a:srgbClr val="4E8BFF"/>
          </a:solidFill>
          <a:ln/>
        </p:spPr>
      </p:sp>
      <p:sp>
        <p:nvSpPr>
          <p:cNvPr id="13" name="Shape 11"/>
          <p:cNvSpPr/>
          <p:nvPr/>
        </p:nvSpPr>
        <p:spPr>
          <a:xfrm>
            <a:off x="8666480" y="1855471"/>
            <a:ext cx="406400" cy="539750"/>
          </a:xfrm>
          <a:prstGeom prst="roundRect">
            <a:avLst>
              <a:gd name="adj" fmla="val 9375"/>
            </a:avLst>
          </a:prstGeom>
          <a:solidFill>
            <a:srgbClr val="2AD9C4"/>
          </a:solidFill>
          <a:ln/>
        </p:spPr>
      </p:sp>
      <p:sp>
        <p:nvSpPr>
          <p:cNvPr id="14" name="Text 12"/>
          <p:cNvSpPr/>
          <p:nvPr/>
        </p:nvSpPr>
        <p:spPr>
          <a:xfrm>
            <a:off x="8133080" y="2458721"/>
            <a:ext cx="457200" cy="505460"/>
          </a:xfrm>
          <a:prstGeom prst="rect">
            <a:avLst/>
          </a:prstGeom>
          <a:noFill/>
          <a:ln/>
        </p:spPr>
        <p:txBody>
          <a:bodyPr wrap="square" lIns="0" tIns="0" rIns="0" bIns="0" rtlCol="0" anchor="t">
            <a:normAutofit/>
          </a:bodyPr>
          <a:lstStyle/>
          <a:p>
            <a:pPr algn="ctr" indent="0" marL="0">
              <a:lnSpc>
                <a:spcPts val="1260"/>
              </a:lnSpc>
              <a:buNone/>
            </a:pPr>
            <a:r>
              <a:rPr lang="en-US" sz="900" dirty="0">
                <a:solidFill>
                  <a:srgbClr val="C7CFDA"/>
                </a:solidFill>
                <a:latin typeface="IBM Plex Sans" pitchFamily="34" charset="0"/>
                <a:ea typeface="IBM Plex Sans" pitchFamily="34" charset="-122"/>
                <a:cs typeface="IBM Plex Sans" pitchFamily="34" charset="-120"/>
              </a:rPr>
              <a:t>Travel</a:t>
            </a:r>
            <a:endParaRPr lang="en-US" sz="900" dirty="0"/>
          </a:p>
          <a:p>
            <a:pPr algn="ctr" indent="0" marL="0">
              <a:lnSpc>
                <a:spcPts val="1260"/>
              </a:lnSpc>
              <a:buNone/>
            </a:pPr>
            <a:r>
              <a:rPr lang="en-US" sz="900" dirty="0">
                <a:solidFill>
                  <a:srgbClr val="C7CFDA"/>
                </a:solidFill>
                <a:latin typeface="IBM Plex Sans" pitchFamily="34" charset="0"/>
                <a:ea typeface="IBM Plex Sans" pitchFamily="34" charset="-122"/>
                <a:cs typeface="IBM Plex Sans" pitchFamily="34" charset="-120"/>
              </a:rPr>
              <a:t>15.67%</a:t>
            </a:r>
            <a:endParaRPr lang="en-US" sz="900" dirty="0"/>
          </a:p>
        </p:txBody>
      </p:sp>
      <p:sp>
        <p:nvSpPr>
          <p:cNvPr id="15" name="Text 13"/>
          <p:cNvSpPr/>
          <p:nvPr/>
        </p:nvSpPr>
        <p:spPr>
          <a:xfrm>
            <a:off x="8641080" y="2458721"/>
            <a:ext cx="457200" cy="505460"/>
          </a:xfrm>
          <a:prstGeom prst="rect">
            <a:avLst/>
          </a:prstGeom>
          <a:noFill/>
          <a:ln/>
        </p:spPr>
        <p:txBody>
          <a:bodyPr wrap="square" lIns="0" tIns="0" rIns="0" bIns="0" rtlCol="0" anchor="t">
            <a:normAutofit/>
          </a:bodyPr>
          <a:lstStyle/>
          <a:p>
            <a:pPr algn="ctr" indent="0" marL="0">
              <a:lnSpc>
                <a:spcPts val="1260"/>
              </a:lnSpc>
              <a:buNone/>
            </a:pPr>
            <a:r>
              <a:rPr lang="en-US" sz="900" dirty="0">
                <a:solidFill>
                  <a:srgbClr val="C7CFDA"/>
                </a:solidFill>
                <a:latin typeface="IBM Plex Sans" pitchFamily="34" charset="0"/>
                <a:ea typeface="IBM Plex Sans" pitchFamily="34" charset="-122"/>
                <a:cs typeface="IBM Plex Sans" pitchFamily="34" charset="-120"/>
              </a:rPr>
              <a:t>Retail</a:t>
            </a:r>
            <a:endParaRPr lang="en-US" sz="900" dirty="0"/>
          </a:p>
          <a:p>
            <a:pPr algn="ctr" indent="0" marL="0">
              <a:lnSpc>
                <a:spcPts val="1260"/>
              </a:lnSpc>
              <a:buNone/>
            </a:pPr>
            <a:r>
              <a:rPr lang="en-US" sz="900" dirty="0">
                <a:solidFill>
                  <a:srgbClr val="C7CFDA"/>
                </a:solidFill>
                <a:latin typeface="IBM Plex Sans" pitchFamily="34" charset="0"/>
                <a:ea typeface="IBM Plex Sans" pitchFamily="34" charset="-122"/>
                <a:cs typeface="IBM Plex Sans" pitchFamily="34" charset="-120"/>
              </a:rPr>
              <a:t>15.57%</a:t>
            </a:r>
            <a:endParaRPr lang="en-US" sz="900" dirty="0"/>
          </a:p>
        </p:txBody>
      </p:sp>
      <p:sp>
        <p:nvSpPr>
          <p:cNvPr id="16" name="Text 14"/>
          <p:cNvSpPr/>
          <p:nvPr/>
        </p:nvSpPr>
        <p:spPr>
          <a:xfrm>
            <a:off x="812800" y="3355339"/>
            <a:ext cx="1012666"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8B96A5"/>
                </a:solidFill>
                <a:latin typeface="IBM Plex Sans" pitchFamily="34" charset="0"/>
                <a:ea typeface="IBM Plex Sans" pitchFamily="34" charset="-122"/>
                <a:cs typeface="IBM Plex Sans" pitchFamily="34" charset="-120"/>
              </a:rPr>
              <a:t>RISK ENGINE</a:t>
            </a:r>
            <a:endParaRPr lang="en-US" sz="1100" dirty="0"/>
          </a:p>
        </p:txBody>
      </p:sp>
      <p:sp>
        <p:nvSpPr>
          <p:cNvPr id="17" name="Shape 15"/>
          <p:cNvSpPr/>
          <p:nvPr/>
        </p:nvSpPr>
        <p:spPr>
          <a:xfrm>
            <a:off x="1904841" y="3302636"/>
            <a:ext cx="962978" cy="300990"/>
          </a:xfrm>
          <a:prstGeom prst="roundRect">
            <a:avLst>
              <a:gd name="adj" fmla="val 41139"/>
            </a:avLst>
          </a:prstGeom>
          <a:solidFill>
            <a:srgbClr val="151C28"/>
          </a:solidFill>
          <a:ln w="6350">
            <a:solidFill>
              <a:srgbClr val="232C3A"/>
            </a:solidFill>
            <a:prstDash val="solid"/>
          </a:ln>
        </p:spPr>
      </p:sp>
      <p:sp>
        <p:nvSpPr>
          <p:cNvPr id="18" name="Text 16"/>
          <p:cNvSpPr/>
          <p:nvPr/>
        </p:nvSpPr>
        <p:spPr>
          <a:xfrm>
            <a:off x="2021046" y="3355341"/>
            <a:ext cx="78136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Explainable</a:t>
            </a:r>
            <a:endParaRPr lang="en-US" sz="1100" dirty="0"/>
          </a:p>
        </p:txBody>
      </p:sp>
      <p:sp>
        <p:nvSpPr>
          <p:cNvPr id="19" name="Shape 17"/>
          <p:cNvSpPr/>
          <p:nvPr/>
        </p:nvSpPr>
        <p:spPr>
          <a:xfrm>
            <a:off x="3001169" y="3302636"/>
            <a:ext cx="954405" cy="300990"/>
          </a:xfrm>
          <a:prstGeom prst="roundRect">
            <a:avLst>
              <a:gd name="adj" fmla="val 41139"/>
            </a:avLst>
          </a:prstGeom>
          <a:solidFill>
            <a:srgbClr val="151C28"/>
          </a:solidFill>
          <a:ln w="6350">
            <a:solidFill>
              <a:srgbClr val="232C3A"/>
            </a:solidFill>
            <a:prstDash val="solid"/>
          </a:ln>
        </p:spPr>
      </p:sp>
      <p:sp>
        <p:nvSpPr>
          <p:cNvPr id="20" name="Text 18"/>
          <p:cNvSpPr/>
          <p:nvPr/>
        </p:nvSpPr>
        <p:spPr>
          <a:xfrm>
            <a:off x="3117374" y="3355341"/>
            <a:ext cx="772795"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Rule-based</a:t>
            </a:r>
            <a:endParaRPr lang="en-US" sz="1100" dirty="0"/>
          </a:p>
        </p:txBody>
      </p:sp>
      <p:sp>
        <p:nvSpPr>
          <p:cNvPr id="21" name="Shape 19"/>
          <p:cNvSpPr/>
          <p:nvPr/>
        </p:nvSpPr>
        <p:spPr>
          <a:xfrm>
            <a:off x="4088924" y="3302636"/>
            <a:ext cx="1235234" cy="300990"/>
          </a:xfrm>
          <a:prstGeom prst="roundRect">
            <a:avLst>
              <a:gd name="adj" fmla="val 41139"/>
            </a:avLst>
          </a:prstGeom>
          <a:solidFill>
            <a:srgbClr val="151C28"/>
          </a:solidFill>
          <a:ln w="6350">
            <a:solidFill>
              <a:srgbClr val="232C3A"/>
            </a:solidFill>
            <a:prstDash val="solid"/>
          </a:ln>
        </p:spPr>
      </p:sp>
      <p:sp>
        <p:nvSpPr>
          <p:cNvPr id="22" name="Text 20"/>
          <p:cNvSpPr/>
          <p:nvPr/>
        </p:nvSpPr>
        <p:spPr>
          <a:xfrm>
            <a:off x="4205129" y="3355341"/>
            <a:ext cx="1053624"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Additive scoring</a:t>
            </a:r>
            <a:endParaRPr lang="en-US" sz="1100" dirty="0"/>
          </a:p>
        </p:txBody>
      </p:sp>
      <p:sp>
        <p:nvSpPr>
          <p:cNvPr id="23" name="Shape 21"/>
          <p:cNvSpPr/>
          <p:nvPr/>
        </p:nvSpPr>
        <p:spPr>
          <a:xfrm>
            <a:off x="5457508" y="3302636"/>
            <a:ext cx="1038939" cy="300990"/>
          </a:xfrm>
          <a:prstGeom prst="roundRect">
            <a:avLst>
              <a:gd name="adj" fmla="val 41139"/>
            </a:avLst>
          </a:prstGeom>
          <a:solidFill>
            <a:srgbClr val="151C28"/>
          </a:solidFill>
          <a:ln w="6350">
            <a:solidFill>
              <a:srgbClr val="232C3A"/>
            </a:solidFill>
            <a:prstDash val="solid"/>
          </a:ln>
        </p:spPr>
      </p:sp>
      <p:sp>
        <p:nvSpPr>
          <p:cNvPr id="24" name="Text 22"/>
          <p:cNvSpPr/>
          <p:nvPr/>
        </p:nvSpPr>
        <p:spPr>
          <a:xfrm>
            <a:off x="5573713" y="3355341"/>
            <a:ext cx="857329"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Score 0–100</a:t>
            </a:r>
            <a:endParaRPr lang="en-US" sz="1100" dirty="0"/>
          </a:p>
        </p:txBody>
      </p:sp>
      <p:sp>
        <p:nvSpPr>
          <p:cNvPr id="25" name="Shape 23"/>
          <p:cNvSpPr/>
          <p:nvPr/>
        </p:nvSpPr>
        <p:spPr>
          <a:xfrm>
            <a:off x="815975" y="3787775"/>
            <a:ext cx="3414157" cy="709930"/>
          </a:xfrm>
          <a:prstGeom prst="roundRect">
            <a:avLst>
              <a:gd name="adj" fmla="val 10286"/>
            </a:avLst>
          </a:prstGeom>
          <a:solidFill>
            <a:srgbClr val="2A1414"/>
          </a:solidFill>
          <a:ln w="6350">
            <a:solidFill>
              <a:srgbClr val="4A1E1E"/>
            </a:solidFill>
            <a:prstDash val="solid"/>
          </a:ln>
        </p:spPr>
      </p:sp>
      <p:sp>
        <p:nvSpPr>
          <p:cNvPr id="26" name="Text 24"/>
          <p:cNvSpPr/>
          <p:nvPr/>
        </p:nvSpPr>
        <p:spPr>
          <a:xfrm>
            <a:off x="845211" y="3929380"/>
            <a:ext cx="3355686" cy="4521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0453A"/>
                </a:solidFill>
                <a:latin typeface="IBM Plex Sans" pitchFamily="34" charset="0"/>
                <a:ea typeface="IBM Plex Sans" pitchFamily="34" charset="-122"/>
                <a:cs typeface="IBM Plex Sans" pitchFamily="34" charset="-120"/>
              </a:rPr>
              <a:t>3 CRITICAL merchants — requires investigation</a:t>
            </a:r>
            <a:endParaRPr lang="en-US" sz="1200" dirty="0"/>
          </a:p>
        </p:txBody>
      </p:sp>
      <p:sp>
        <p:nvSpPr>
          <p:cNvPr id="27" name="Shape 25"/>
          <p:cNvSpPr/>
          <p:nvPr/>
        </p:nvSpPr>
        <p:spPr>
          <a:xfrm>
            <a:off x="4388882" y="3787775"/>
            <a:ext cx="3414236" cy="709930"/>
          </a:xfrm>
          <a:prstGeom prst="roundRect">
            <a:avLst>
              <a:gd name="adj" fmla="val 10286"/>
            </a:avLst>
          </a:prstGeom>
          <a:solidFill>
            <a:srgbClr val="2A1A14"/>
          </a:solidFill>
          <a:ln w="6350">
            <a:solidFill>
              <a:srgbClr val="4A2A1E"/>
            </a:solidFill>
            <a:prstDash val="solid"/>
          </a:ln>
        </p:spPr>
      </p:sp>
      <p:sp>
        <p:nvSpPr>
          <p:cNvPr id="28" name="Text 26"/>
          <p:cNvSpPr/>
          <p:nvPr/>
        </p:nvSpPr>
        <p:spPr>
          <a:xfrm>
            <a:off x="4418117" y="3929380"/>
            <a:ext cx="3355767" cy="4521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F7A45"/>
                </a:solidFill>
                <a:latin typeface="IBM Plex Sans" pitchFamily="34" charset="0"/>
                <a:ea typeface="IBM Plex Sans" pitchFamily="34" charset="-122"/>
                <a:cs typeface="IBM Plex Sans" pitchFamily="34" charset="-120"/>
              </a:rPr>
              <a:t>38 HIGH/CRITICAL of 658 merchants with sufficient volume</a:t>
            </a:r>
            <a:endParaRPr lang="en-US" sz="1200" dirty="0"/>
          </a:p>
        </p:txBody>
      </p:sp>
      <p:sp>
        <p:nvSpPr>
          <p:cNvPr id="29" name="Shape 27"/>
          <p:cNvSpPr/>
          <p:nvPr/>
        </p:nvSpPr>
        <p:spPr>
          <a:xfrm>
            <a:off x="7961868" y="3787775"/>
            <a:ext cx="3414157" cy="709930"/>
          </a:xfrm>
          <a:prstGeom prst="roundRect">
            <a:avLst>
              <a:gd name="adj" fmla="val 10286"/>
            </a:avLst>
          </a:prstGeom>
          <a:solidFill>
            <a:srgbClr val="132A1E"/>
          </a:solidFill>
          <a:ln w="6350">
            <a:solidFill>
              <a:srgbClr val="1E4630"/>
            </a:solidFill>
            <a:prstDash val="solid"/>
          </a:ln>
        </p:spPr>
      </p:sp>
      <p:sp>
        <p:nvSpPr>
          <p:cNvPr id="30" name="Text 28"/>
          <p:cNvSpPr/>
          <p:nvPr/>
        </p:nvSpPr>
        <p:spPr>
          <a:xfrm>
            <a:off x="7991104" y="3929380"/>
            <a:ext cx="3355686" cy="4521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9C46A"/>
                </a:solidFill>
                <a:latin typeface="IBM Plex Sans" pitchFamily="34" charset="0"/>
                <a:ea typeface="IBM Plex Sans" pitchFamily="34" charset="-122"/>
                <a:cs typeface="IBM Plex Sans" pitchFamily="34" charset="-120"/>
              </a:rPr>
              <a:t>0 users reached HIGH/CRITICAL</a:t>
            </a:r>
            <a:endParaRPr lang="en-US" sz="1200" dirty="0"/>
          </a:p>
        </p:txBody>
      </p:sp>
      <p:sp>
        <p:nvSpPr>
          <p:cNvPr id="31" name="Text 29"/>
          <p:cNvSpPr/>
          <p:nvPr/>
        </p:nvSpPr>
        <p:spPr>
          <a:xfrm>
            <a:off x="812800" y="4678682"/>
            <a:ext cx="1088339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472"/>
                </a:solidFill>
                <a:latin typeface="IBM Plex Sans" pitchFamily="34" charset="0"/>
                <a:ea typeface="IBM Plex Sans" pitchFamily="34" charset="-122"/>
                <a:cs typeface="IBM Plex Sans" pitchFamily="34" charset="-120"/>
              </a:rPr>
              <a:t>These are rule-based risk flags — potential risk that requires investigation, not confirmed fraud.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812800" y="812800"/>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2F5F8"/>
                </a:solidFill>
                <a:latin typeface="Space Grotesk" pitchFamily="34" charset="0"/>
                <a:ea typeface="Space Grotesk" pitchFamily="34" charset="-122"/>
                <a:cs typeface="Space Grotesk" pitchFamily="34" charset="-120"/>
              </a:rPr>
              <a:t>Mapping The User–Merchant Network</a:t>
            </a:r>
            <a:endParaRPr lang="en-US" sz="2800" dirty="0"/>
          </a:p>
        </p:txBody>
      </p:sp>
      <p:sp>
        <p:nvSpPr>
          <p:cNvPr id="3" name="Shape 1"/>
          <p:cNvSpPr/>
          <p:nvPr/>
        </p:nvSpPr>
        <p:spPr>
          <a:xfrm>
            <a:off x="815975" y="1377314"/>
            <a:ext cx="4819650" cy="2660650"/>
          </a:xfrm>
          <a:prstGeom prst="roundRect">
            <a:avLst>
              <a:gd name="adj" fmla="val 3699"/>
            </a:avLst>
          </a:prstGeom>
          <a:solidFill>
            <a:srgbClr val="131A24"/>
          </a:solidFill>
          <a:ln w="6350">
            <a:solidFill>
              <a:srgbClr val="232C3A"/>
            </a:solidFill>
            <a:prstDash val="solid"/>
          </a:ln>
        </p:spPr>
      </p:sp>
      <p:sp>
        <p:nvSpPr>
          <p:cNvPr id="4" name="Text 2"/>
          <p:cNvSpPr/>
          <p:nvPr/>
        </p:nvSpPr>
        <p:spPr>
          <a:xfrm>
            <a:off x="1193800" y="1526539"/>
            <a:ext cx="485775"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8B96A5"/>
                </a:solidFill>
                <a:latin typeface="IBM Plex Sans" pitchFamily="34" charset="0"/>
                <a:ea typeface="IBM Plex Sans" pitchFamily="34" charset="-122"/>
                <a:cs typeface="IBM Plex Sans" pitchFamily="34" charset="-120"/>
              </a:rPr>
              <a:t>USERS</a:t>
            </a:r>
            <a:endParaRPr lang="en-US" sz="1000" dirty="0"/>
          </a:p>
        </p:txBody>
      </p:sp>
      <p:sp>
        <p:nvSpPr>
          <p:cNvPr id="5" name="Text 3"/>
          <p:cNvSpPr/>
          <p:nvPr/>
        </p:nvSpPr>
        <p:spPr>
          <a:xfrm>
            <a:off x="4368800" y="1526539"/>
            <a:ext cx="870268" cy="203200"/>
          </a:xfrm>
          <a:prstGeom prst="rect">
            <a:avLst/>
          </a:prstGeom>
          <a:noFill/>
          <a:ln/>
        </p:spPr>
        <p:txBody>
          <a:bodyPr wrap="square" lIns="0" tIns="0" rIns="0" bIns="0" rtlCol="0" anchor="t">
            <a:normAutofit/>
          </a:bodyPr>
          <a:lstStyle/>
          <a:p>
            <a:pPr algn="l" indent="0" marL="0">
              <a:lnSpc>
                <a:spcPts val="1400"/>
              </a:lnSpc>
              <a:buNone/>
            </a:pPr>
            <a:r>
              <a:rPr lang="en-US" sz="1000" b="1" spc="50" kern="0" dirty="0">
                <a:solidFill>
                  <a:srgbClr val="8B96A5"/>
                </a:solidFill>
                <a:latin typeface="IBM Plex Sans" pitchFamily="34" charset="0"/>
                <a:ea typeface="IBM Plex Sans" pitchFamily="34" charset="-122"/>
                <a:cs typeface="IBM Plex Sans" pitchFamily="34" charset="-120"/>
              </a:rPr>
              <a:t>MERCHANTS</a:t>
            </a:r>
            <a:endParaRPr lang="en-US" sz="1000" dirty="0"/>
          </a:p>
        </p:txBody>
      </p:sp>
      <p:pic>
        <p:nvPicPr>
          <p:cNvPr id="6" name="Image 0" descr="connector">    </p:cNvPr>
          <p:cNvPicPr>
            <a:picLocks noChangeAspect="1"/>
          </p:cNvPicPr>
          <p:nvPr/>
        </p:nvPicPr>
        <p:blipFill>
          <a:blip r:embed="rId1"/>
          <a:srcRect l="0" r="0" t="0" b="0"/>
          <a:stretch/>
        </p:blipFill>
        <p:spPr>
          <a:xfrm>
            <a:off x="1282700" y="1971039"/>
            <a:ext cx="3378200" cy="266700"/>
          </a:xfrm>
          <a:prstGeom prst="rect">
            <a:avLst/>
          </a:prstGeom>
        </p:spPr>
      </p:pic>
      <p:pic>
        <p:nvPicPr>
          <p:cNvPr id="7" name="Image 1" descr="connector">    </p:cNvPr>
          <p:cNvPicPr>
            <a:picLocks noChangeAspect="1"/>
          </p:cNvPicPr>
          <p:nvPr/>
        </p:nvPicPr>
        <p:blipFill>
          <a:blip r:embed="rId2"/>
          <a:srcRect l="0" r="0" t="0" b="0"/>
          <a:stretch/>
        </p:blipFill>
        <p:spPr>
          <a:xfrm>
            <a:off x="1282700" y="1971039"/>
            <a:ext cx="3378200" cy="965200"/>
          </a:xfrm>
          <a:prstGeom prst="rect">
            <a:avLst/>
          </a:prstGeom>
        </p:spPr>
      </p:pic>
      <p:pic>
        <p:nvPicPr>
          <p:cNvPr id="8" name="Image 2" descr="connector">    </p:cNvPr>
          <p:cNvPicPr>
            <a:picLocks noChangeAspect="1"/>
          </p:cNvPicPr>
          <p:nvPr/>
        </p:nvPicPr>
        <p:blipFill>
          <a:blip r:embed="rId3"/>
          <a:srcRect l="0" r="0" t="0" b="0"/>
          <a:stretch/>
        </p:blipFill>
        <p:spPr>
          <a:xfrm>
            <a:off x="1282700" y="2161539"/>
            <a:ext cx="3378200" cy="520700"/>
          </a:xfrm>
          <a:prstGeom prst="rect">
            <a:avLst/>
          </a:prstGeom>
        </p:spPr>
      </p:pic>
      <p:pic>
        <p:nvPicPr>
          <p:cNvPr id="9" name="Image 3" descr="connector">    </p:cNvPr>
          <p:cNvPicPr>
            <a:picLocks noChangeAspect="1"/>
          </p:cNvPicPr>
          <p:nvPr/>
        </p:nvPicPr>
        <p:blipFill>
          <a:blip r:embed="rId4"/>
          <a:srcRect l="0" r="0" t="0" b="0"/>
          <a:stretch/>
        </p:blipFill>
        <p:spPr>
          <a:xfrm>
            <a:off x="1282700" y="2860039"/>
            <a:ext cx="3378200" cy="457200"/>
          </a:xfrm>
          <a:prstGeom prst="rect">
            <a:avLst/>
          </a:prstGeom>
        </p:spPr>
      </p:pic>
      <p:pic>
        <p:nvPicPr>
          <p:cNvPr id="10" name="Image 4" descr="connector">    </p:cNvPr>
          <p:cNvPicPr>
            <a:picLocks noChangeAspect="1"/>
          </p:cNvPicPr>
          <p:nvPr/>
        </p:nvPicPr>
        <p:blipFill>
          <a:blip r:embed="rId5"/>
          <a:srcRect l="0" r="0" t="0" b="0"/>
          <a:stretch/>
        </p:blipFill>
        <p:spPr>
          <a:xfrm>
            <a:off x="1282700" y="3241039"/>
            <a:ext cx="3378200" cy="393700"/>
          </a:xfrm>
          <a:prstGeom prst="rect">
            <a:avLst/>
          </a:prstGeom>
        </p:spPr>
      </p:pic>
      <p:pic>
        <p:nvPicPr>
          <p:cNvPr id="11" name="Image 5" descr="connector">    </p:cNvPr>
          <p:cNvPicPr>
            <a:picLocks noChangeAspect="1"/>
          </p:cNvPicPr>
          <p:nvPr/>
        </p:nvPicPr>
        <p:blipFill>
          <a:blip r:embed="rId6"/>
          <a:srcRect l="0" r="0" t="0" b="0"/>
          <a:stretch/>
        </p:blipFill>
        <p:spPr>
          <a:xfrm>
            <a:off x="1282700" y="3558539"/>
            <a:ext cx="3378200" cy="266700"/>
          </a:xfrm>
          <a:prstGeom prst="rect">
            <a:avLst/>
          </a:prstGeom>
        </p:spPr>
      </p:pic>
      <p:pic>
        <p:nvPicPr>
          <p:cNvPr id="12" name="Image 6" descr="connector">    </p:cNvPr>
          <p:cNvPicPr>
            <a:picLocks noChangeAspect="1"/>
          </p:cNvPicPr>
          <p:nvPr/>
        </p:nvPicPr>
        <p:blipFill>
          <a:blip r:embed="rId7"/>
          <a:srcRect l="0" r="0" t="0" b="0"/>
          <a:stretch/>
        </p:blipFill>
        <p:spPr>
          <a:xfrm>
            <a:off x="1282700" y="2606039"/>
            <a:ext cx="3378200" cy="1028700"/>
          </a:xfrm>
          <a:prstGeom prst="rect">
            <a:avLst/>
          </a:prstGeom>
        </p:spPr>
      </p:pic>
      <p:pic>
        <p:nvPicPr>
          <p:cNvPr id="13" name="Image 7" descr="ellipse">    </p:cNvPr>
          <p:cNvPicPr>
            <a:picLocks noChangeAspect="1"/>
          </p:cNvPicPr>
          <p:nvPr/>
        </p:nvPicPr>
        <p:blipFill>
          <a:blip r:embed="rId8"/>
          <a:srcRect l="0" r="0" t="0" b="0"/>
          <a:stretch/>
        </p:blipFill>
        <p:spPr>
          <a:xfrm>
            <a:off x="1193800" y="1882139"/>
            <a:ext cx="254000" cy="254000"/>
          </a:xfrm>
          <a:prstGeom prst="rect">
            <a:avLst/>
          </a:prstGeom>
        </p:spPr>
      </p:pic>
      <p:pic>
        <p:nvPicPr>
          <p:cNvPr id="14" name="Image 8" descr="ellipse">    </p:cNvPr>
          <p:cNvPicPr>
            <a:picLocks noChangeAspect="1"/>
          </p:cNvPicPr>
          <p:nvPr/>
        </p:nvPicPr>
        <p:blipFill>
          <a:blip r:embed="rId9"/>
          <a:srcRect l="0" r="0" t="0" b="0"/>
          <a:stretch/>
        </p:blipFill>
        <p:spPr>
          <a:xfrm>
            <a:off x="1193800" y="2517139"/>
            <a:ext cx="254000" cy="254000"/>
          </a:xfrm>
          <a:prstGeom prst="rect">
            <a:avLst/>
          </a:prstGeom>
        </p:spPr>
      </p:pic>
      <p:pic>
        <p:nvPicPr>
          <p:cNvPr id="15" name="Image 9" descr="ellipse">    </p:cNvPr>
          <p:cNvPicPr>
            <a:picLocks noChangeAspect="1"/>
          </p:cNvPicPr>
          <p:nvPr/>
        </p:nvPicPr>
        <p:blipFill>
          <a:blip r:embed="rId10"/>
          <a:srcRect l="0" r="0" t="0" b="0"/>
          <a:stretch/>
        </p:blipFill>
        <p:spPr>
          <a:xfrm>
            <a:off x="1193800" y="3152139"/>
            <a:ext cx="254000" cy="254000"/>
          </a:xfrm>
          <a:prstGeom prst="rect">
            <a:avLst/>
          </a:prstGeom>
        </p:spPr>
      </p:pic>
      <p:pic>
        <p:nvPicPr>
          <p:cNvPr id="16" name="Image 10" descr="ellipse">    </p:cNvPr>
          <p:cNvPicPr>
            <a:picLocks noChangeAspect="1"/>
          </p:cNvPicPr>
          <p:nvPr/>
        </p:nvPicPr>
        <p:blipFill>
          <a:blip r:embed="rId11"/>
          <a:srcRect l="0" r="0" t="0" b="0"/>
          <a:stretch/>
        </p:blipFill>
        <p:spPr>
          <a:xfrm>
            <a:off x="1193800" y="3660139"/>
            <a:ext cx="254000" cy="254000"/>
          </a:xfrm>
          <a:prstGeom prst="rect">
            <a:avLst/>
          </a:prstGeom>
        </p:spPr>
      </p:pic>
      <p:pic>
        <p:nvPicPr>
          <p:cNvPr id="17" name="Image 11" descr="ellipse">    </p:cNvPr>
          <p:cNvPicPr>
            <a:picLocks noChangeAspect="1"/>
          </p:cNvPicPr>
          <p:nvPr/>
        </p:nvPicPr>
        <p:blipFill>
          <a:blip r:embed="rId12"/>
          <a:srcRect l="0" r="0" t="0" b="0"/>
          <a:stretch/>
        </p:blipFill>
        <p:spPr>
          <a:xfrm>
            <a:off x="4495800" y="2072639"/>
            <a:ext cx="254000" cy="254000"/>
          </a:xfrm>
          <a:prstGeom prst="rect">
            <a:avLst/>
          </a:prstGeom>
        </p:spPr>
      </p:pic>
      <p:pic>
        <p:nvPicPr>
          <p:cNvPr id="18" name="Image 12" descr="ellipse">    </p:cNvPr>
          <p:cNvPicPr>
            <a:picLocks noChangeAspect="1"/>
          </p:cNvPicPr>
          <p:nvPr/>
        </p:nvPicPr>
        <p:blipFill>
          <a:blip r:embed="rId13"/>
          <a:srcRect l="0" r="0" t="0" b="0"/>
          <a:stretch/>
        </p:blipFill>
        <p:spPr>
          <a:xfrm>
            <a:off x="4495800" y="2771139"/>
            <a:ext cx="254000" cy="254000"/>
          </a:xfrm>
          <a:prstGeom prst="rect">
            <a:avLst/>
          </a:prstGeom>
        </p:spPr>
      </p:pic>
      <p:pic>
        <p:nvPicPr>
          <p:cNvPr id="19" name="Image 13" descr="ellipse">    </p:cNvPr>
          <p:cNvPicPr>
            <a:picLocks noChangeAspect="1"/>
          </p:cNvPicPr>
          <p:nvPr/>
        </p:nvPicPr>
        <p:blipFill>
          <a:blip r:embed="rId14"/>
          <a:srcRect l="0" r="0" t="0" b="0"/>
          <a:stretch/>
        </p:blipFill>
        <p:spPr>
          <a:xfrm>
            <a:off x="4495800" y="3469639"/>
            <a:ext cx="254000" cy="254000"/>
          </a:xfrm>
          <a:prstGeom prst="rect">
            <a:avLst/>
          </a:prstGeom>
        </p:spPr>
      </p:pic>
      <p:sp>
        <p:nvSpPr>
          <p:cNvPr id="20" name="Text 4"/>
          <p:cNvSpPr/>
          <p:nvPr/>
        </p:nvSpPr>
        <p:spPr>
          <a:xfrm>
            <a:off x="939800" y="1653539"/>
            <a:ext cx="749300" cy="345440"/>
          </a:xfrm>
          <a:prstGeom prst="rect">
            <a:avLst/>
          </a:prstGeom>
          <a:noFill/>
          <a:ln/>
        </p:spPr>
        <p:txBody>
          <a:bodyPr wrap="square" lIns="0" tIns="0" rIns="0" bIns="0" rtlCol="0" anchor="t">
            <a:normAutofit/>
          </a:bodyPr>
          <a:lstStyle/>
          <a:p>
            <a:pPr algn="l" indent="0" marL="0">
              <a:lnSpc>
                <a:spcPts val="1260"/>
              </a:lnSpc>
              <a:buNone/>
            </a:pPr>
            <a:r>
              <a:rPr lang="en-US" sz="900" dirty="0">
                <a:solidFill>
                  <a:srgbClr val="2AD9C4"/>
                </a:solidFill>
                <a:latin typeface="IBM Plex Sans" pitchFamily="34" charset="0"/>
                <a:ea typeface="IBM Plex Sans" pitchFamily="34" charset="-122"/>
                <a:cs typeface="IBM Plex Sans" pitchFamily="34" charset="-120"/>
              </a:rPr>
              <a:t>High-degree node</a:t>
            </a:r>
            <a:endParaRPr lang="en-US" sz="900" dirty="0"/>
          </a:p>
        </p:txBody>
      </p:sp>
      <p:sp>
        <p:nvSpPr>
          <p:cNvPr id="21" name="Shape 5"/>
          <p:cNvSpPr/>
          <p:nvPr/>
        </p:nvSpPr>
        <p:spPr>
          <a:xfrm>
            <a:off x="5845175" y="1377314"/>
            <a:ext cx="5530850" cy="2660650"/>
          </a:xfrm>
          <a:prstGeom prst="roundRect">
            <a:avLst>
              <a:gd name="adj" fmla="val 3699"/>
            </a:avLst>
          </a:prstGeom>
          <a:solidFill>
            <a:srgbClr val="151C28"/>
          </a:solidFill>
          <a:ln w="6350">
            <a:solidFill>
              <a:srgbClr val="232C3A"/>
            </a:solidFill>
            <a:prstDash val="solid"/>
          </a:ln>
        </p:spPr>
      </p:sp>
      <p:sp>
        <p:nvSpPr>
          <p:cNvPr id="22" name="Text 6"/>
          <p:cNvSpPr/>
          <p:nvPr/>
        </p:nvSpPr>
        <p:spPr>
          <a:xfrm>
            <a:off x="6050280" y="1582421"/>
            <a:ext cx="5274259"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4E8BFF"/>
                </a:solidFill>
                <a:latin typeface="IBM Plex Sans" pitchFamily="34" charset="0"/>
                <a:ea typeface="IBM Plex Sans" pitchFamily="34" charset="-122"/>
                <a:cs typeface="IBM Plex Sans" pitchFamily="34" charset="-120"/>
              </a:rPr>
              <a:t>NetworkX bipartite analysis</a:t>
            </a:r>
            <a:endParaRPr lang="en-US" sz="1300" dirty="0"/>
          </a:p>
        </p:txBody>
      </p:sp>
      <p:sp>
        <p:nvSpPr>
          <p:cNvPr id="23" name="Text 7"/>
          <p:cNvSpPr/>
          <p:nvPr/>
        </p:nvSpPr>
        <p:spPr>
          <a:xfrm>
            <a:off x="6050280" y="1869439"/>
            <a:ext cx="5274259" cy="1244600"/>
          </a:xfrm>
          <a:prstGeom prst="rect">
            <a:avLst/>
          </a:prstGeom>
          <a:noFill/>
          <a:ln/>
        </p:spPr>
        <p:txBody>
          <a:bodyPr wrap="square" lIns="0" tIns="0" rIns="0" bIns="0" rtlCol="0" anchor="t">
            <a:normAutofit/>
          </a:bodyPr>
          <a:lstStyle/>
          <a:p>
            <a:pPr algn="l" marL="342900" indent="-342900">
              <a:lnSpc>
                <a:spcPts val="1920"/>
              </a:lnSpc>
              <a:buSzPct val="100000"/>
              <a:buChar char="•"/>
            </a:pPr>
            <a:r>
              <a:rPr lang="en-US" sz="1200" dirty="0">
                <a:solidFill>
                  <a:srgbClr val="C7CFDA"/>
                </a:solidFill>
                <a:latin typeface="IBM Plex Sans" pitchFamily="34" charset="0"/>
                <a:ea typeface="IBM Plex Sans" pitchFamily="34" charset="-122"/>
                <a:cs typeface="IBM Plex Sans" pitchFamily="34" charset="-120"/>
              </a:rPr>
              <a:t>User ↔ Merchant bipartite graph</a:t>
            </a:r>
            <a:endParaRPr lang="en-US" sz="1200" dirty="0"/>
          </a:p>
          <a:p>
            <a:pPr algn="l" marL="342900" indent="-342900">
              <a:lnSpc>
                <a:spcPts val="1920"/>
              </a:lnSpc>
              <a:buSzPct val="100000"/>
              <a:buChar char="•"/>
            </a:pPr>
            <a:r>
              <a:rPr lang="en-US" sz="1200" dirty="0">
                <a:solidFill>
                  <a:srgbClr val="C7CFDA"/>
                </a:solidFill>
                <a:latin typeface="IBM Plex Sans" pitchFamily="34" charset="0"/>
                <a:ea typeface="IBM Plex Sans" pitchFamily="34" charset="-122"/>
                <a:cs typeface="IBM Plex Sans" pitchFamily="34" charset="-120"/>
              </a:rPr>
              <a:t>High-degree nodes surfaced</a:t>
            </a:r>
            <a:endParaRPr lang="en-US" sz="1200" dirty="0"/>
          </a:p>
          <a:p>
            <a:pPr algn="l" marL="342900" indent="-342900">
              <a:lnSpc>
                <a:spcPts val="1920"/>
              </a:lnSpc>
              <a:buSzPct val="100000"/>
              <a:buChar char="•"/>
            </a:pPr>
            <a:r>
              <a:rPr lang="en-US" sz="1200" dirty="0">
                <a:solidFill>
                  <a:srgbClr val="C7CFDA"/>
                </a:solidFill>
                <a:latin typeface="IBM Plex Sans" pitchFamily="34" charset="0"/>
                <a:ea typeface="IBM Plex Sans" pitchFamily="34" charset="-122"/>
                <a:cs typeface="IBM Plex Sans" pitchFamily="34" charset="-120"/>
              </a:rPr>
              <a:t>Connected components computed</a:t>
            </a:r>
            <a:endParaRPr lang="en-US" sz="1200" dirty="0"/>
          </a:p>
          <a:p>
            <a:pPr algn="l" marL="342900" indent="-342900">
              <a:lnSpc>
                <a:spcPts val="1920"/>
              </a:lnSpc>
              <a:buSzPct val="100000"/>
              <a:buChar char="•"/>
            </a:pPr>
            <a:r>
              <a:rPr lang="en-US" sz="1200" dirty="0">
                <a:solidFill>
                  <a:srgbClr val="C7CFDA"/>
                </a:solidFill>
                <a:latin typeface="IBM Plex Sans" pitchFamily="34" charset="0"/>
                <a:ea typeface="IBM Plex Sans" pitchFamily="34" charset="-122"/>
                <a:cs typeface="IBM Plex Sans" pitchFamily="34" charset="-120"/>
              </a:rPr>
              <a:t>Dense clusters flagged for review</a:t>
            </a:r>
            <a:endParaRPr lang="en-US" sz="1200" dirty="0"/>
          </a:p>
          <a:p>
            <a:pPr algn="l" marL="342900" indent="-342900">
              <a:lnSpc>
                <a:spcPts val="1920"/>
              </a:lnSpc>
              <a:buSzPct val="100000"/>
              <a:buChar char="•"/>
            </a:pPr>
            <a:r>
              <a:rPr lang="en-US" sz="1200" dirty="0">
                <a:solidFill>
                  <a:srgbClr val="C7CFDA"/>
                </a:solidFill>
                <a:latin typeface="IBM Plex Sans" pitchFamily="34" charset="0"/>
                <a:ea typeface="IBM Plex Sans" pitchFamily="34" charset="-122"/>
                <a:cs typeface="IBM Plex Sans" pitchFamily="34" charset="-120"/>
              </a:rPr>
              <a:t>Relationship, not just transaction, analysis</a:t>
            </a:r>
            <a:endParaRPr lang="en-US" sz="1200" dirty="0"/>
          </a:p>
        </p:txBody>
      </p:sp>
      <p:sp>
        <p:nvSpPr>
          <p:cNvPr id="24" name="Shape 8"/>
          <p:cNvSpPr/>
          <p:nvPr/>
        </p:nvSpPr>
        <p:spPr>
          <a:xfrm>
            <a:off x="815975" y="4196717"/>
            <a:ext cx="10560050" cy="755650"/>
          </a:xfrm>
          <a:prstGeom prst="roundRect">
            <a:avLst>
              <a:gd name="adj" fmla="val 11345"/>
            </a:avLst>
          </a:prstGeom>
          <a:solidFill>
            <a:srgbClr val="2A1A14"/>
          </a:solidFill>
          <a:ln w="6350">
            <a:solidFill>
              <a:srgbClr val="4A2A1E"/>
            </a:solidFill>
            <a:prstDash val="solid"/>
          </a:ln>
        </p:spPr>
      </p:sp>
      <p:sp>
        <p:nvSpPr>
          <p:cNvPr id="25" name="Text 9"/>
          <p:cNvSpPr/>
          <p:nvPr/>
        </p:nvSpPr>
        <p:spPr>
          <a:xfrm>
            <a:off x="1021080" y="4351021"/>
            <a:ext cx="1045433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7A45"/>
                </a:solidFill>
                <a:latin typeface="IBM Plex Sans" pitchFamily="34" charset="0"/>
                <a:ea typeface="IBM Plex Sans" pitchFamily="34" charset="-122"/>
                <a:cs typeface="IBM Plex Sans" pitchFamily="34" charset="-120"/>
              </a:rPr>
              <a:t>The dataset does not contain account-to-account transfer relationships needed to prove true transaction cycles.</a:t>
            </a:r>
            <a:endParaRPr lang="en-US" sz="1200" dirty="0"/>
          </a:p>
        </p:txBody>
      </p:sp>
      <p:sp>
        <p:nvSpPr>
          <p:cNvPr id="26" name="Text 10"/>
          <p:cNvSpPr/>
          <p:nvPr/>
        </p:nvSpPr>
        <p:spPr>
          <a:xfrm>
            <a:off x="1021080" y="4602479"/>
            <a:ext cx="10454335" cy="220980"/>
          </a:xfrm>
          <a:prstGeom prst="rect">
            <a:avLst/>
          </a:prstGeom>
          <a:noFill/>
          <a:ln/>
        </p:spPr>
        <p:txBody>
          <a:bodyPr wrap="square" lIns="0" tIns="0" rIns="0" bIns="0" rtlCol="0" anchor="t">
            <a:normAutofit/>
          </a:bodyPr>
          <a:lstStyle/>
          <a:p>
            <a:pPr algn="l" indent="0" marL="0">
              <a:lnSpc>
                <a:spcPts val="1540"/>
              </a:lnSpc>
              <a:buNone/>
            </a:pPr>
            <a:r>
              <a:rPr lang="en-US" sz="1100" i="1" dirty="0">
                <a:solidFill>
                  <a:srgbClr val="C7CFDA"/>
                </a:solidFill>
                <a:latin typeface="IBM Plex Sans" pitchFamily="34" charset="0"/>
                <a:ea typeface="IBM Plex Sans" pitchFamily="34" charset="-122"/>
                <a:cs typeface="IBM Plex Sans" pitchFamily="34" charset="-120"/>
              </a:rPr>
              <a:t>"The graph analysis identifies network structure and potential anomalies, while the available data does not support proving transaction cycles."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812800" y="812800"/>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2F5F8"/>
                </a:solidFill>
                <a:latin typeface="Space Grotesk" pitchFamily="34" charset="0"/>
                <a:ea typeface="Space Grotesk" pitchFamily="34" charset="-122"/>
                <a:cs typeface="Space Grotesk" pitchFamily="34" charset="-120"/>
              </a:rPr>
              <a:t>AI Analyst &amp; Interactive Dashboard</a:t>
            </a:r>
            <a:endParaRPr lang="en-US" sz="2800" dirty="0"/>
          </a:p>
        </p:txBody>
      </p:sp>
      <p:sp>
        <p:nvSpPr>
          <p:cNvPr id="3" name="Shape 1"/>
          <p:cNvSpPr/>
          <p:nvPr/>
        </p:nvSpPr>
        <p:spPr>
          <a:xfrm>
            <a:off x="815975" y="1377317"/>
            <a:ext cx="5187950" cy="2100580"/>
          </a:xfrm>
          <a:prstGeom prst="roundRect">
            <a:avLst>
              <a:gd name="adj" fmla="val 4686"/>
            </a:avLst>
          </a:prstGeom>
          <a:solidFill>
            <a:srgbClr val="151C28"/>
          </a:solidFill>
          <a:ln w="6350">
            <a:solidFill>
              <a:srgbClr val="232C3A"/>
            </a:solidFill>
            <a:prstDash val="solid"/>
          </a:ln>
        </p:spPr>
      </p:sp>
      <p:sp>
        <p:nvSpPr>
          <p:cNvPr id="4" name="Text 2"/>
          <p:cNvSpPr/>
          <p:nvPr/>
        </p:nvSpPr>
        <p:spPr>
          <a:xfrm>
            <a:off x="995680" y="1557021"/>
            <a:ext cx="497339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4E8BFF"/>
                </a:solidFill>
                <a:latin typeface="IBM Plex Sans" pitchFamily="34" charset="0"/>
                <a:ea typeface="IBM Plex Sans" pitchFamily="34" charset="-122"/>
                <a:cs typeface="IBM Plex Sans" pitchFamily="34" charset="-120"/>
              </a:rPr>
              <a:t>Dashboard — 8 pages</a:t>
            </a:r>
            <a:endParaRPr lang="en-US" sz="1300" dirty="0"/>
          </a:p>
        </p:txBody>
      </p:sp>
      <p:sp>
        <p:nvSpPr>
          <p:cNvPr id="5" name="Text 3"/>
          <p:cNvSpPr/>
          <p:nvPr/>
        </p:nvSpPr>
        <p:spPr>
          <a:xfrm>
            <a:off x="995680" y="1844042"/>
            <a:ext cx="248669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1. Executive Overview</a:t>
            </a:r>
            <a:endParaRPr lang="en-US" sz="1100" dirty="0"/>
          </a:p>
        </p:txBody>
      </p:sp>
      <p:sp>
        <p:nvSpPr>
          <p:cNvPr id="6" name="Text 4"/>
          <p:cNvSpPr/>
          <p:nvPr/>
        </p:nvSpPr>
        <p:spPr>
          <a:xfrm>
            <a:off x="3409950" y="1844042"/>
            <a:ext cx="248669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2. Transaction Analytics</a:t>
            </a:r>
            <a:endParaRPr lang="en-US" sz="1100" dirty="0"/>
          </a:p>
        </p:txBody>
      </p:sp>
      <p:sp>
        <p:nvSpPr>
          <p:cNvPr id="7" name="Text 5"/>
          <p:cNvSpPr/>
          <p:nvPr/>
        </p:nvSpPr>
        <p:spPr>
          <a:xfrm>
            <a:off x="995680" y="2039621"/>
            <a:ext cx="248669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3. Fraud &amp; Risk</a:t>
            </a:r>
            <a:endParaRPr lang="en-US" sz="1100" dirty="0"/>
          </a:p>
        </p:txBody>
      </p:sp>
      <p:sp>
        <p:nvSpPr>
          <p:cNvPr id="8" name="Text 6"/>
          <p:cNvSpPr/>
          <p:nvPr/>
        </p:nvSpPr>
        <p:spPr>
          <a:xfrm>
            <a:off x="3409950" y="2039621"/>
            <a:ext cx="248669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4. Merchant Intelligence</a:t>
            </a:r>
            <a:endParaRPr lang="en-US" sz="1100" dirty="0"/>
          </a:p>
        </p:txBody>
      </p:sp>
      <p:sp>
        <p:nvSpPr>
          <p:cNvPr id="9" name="Text 7"/>
          <p:cNvSpPr/>
          <p:nvPr/>
        </p:nvSpPr>
        <p:spPr>
          <a:xfrm>
            <a:off x="995680" y="2235200"/>
            <a:ext cx="248669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5. Chargebacks</a:t>
            </a:r>
            <a:endParaRPr lang="en-US" sz="1100" dirty="0"/>
          </a:p>
        </p:txBody>
      </p:sp>
      <p:sp>
        <p:nvSpPr>
          <p:cNvPr id="10" name="Text 8"/>
          <p:cNvSpPr/>
          <p:nvPr/>
        </p:nvSpPr>
        <p:spPr>
          <a:xfrm>
            <a:off x="3409950" y="2235200"/>
            <a:ext cx="248669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6. Network Analysis</a:t>
            </a:r>
            <a:endParaRPr lang="en-US" sz="1100" dirty="0"/>
          </a:p>
        </p:txBody>
      </p:sp>
      <p:sp>
        <p:nvSpPr>
          <p:cNvPr id="11" name="Text 9"/>
          <p:cNvSpPr/>
          <p:nvPr/>
        </p:nvSpPr>
        <p:spPr>
          <a:xfrm>
            <a:off x="995680" y="2430779"/>
            <a:ext cx="248669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7. Data Quality &amp; Coverage</a:t>
            </a:r>
            <a:endParaRPr lang="en-US" sz="1100" dirty="0"/>
          </a:p>
        </p:txBody>
      </p:sp>
      <p:sp>
        <p:nvSpPr>
          <p:cNvPr id="12" name="Text 10"/>
          <p:cNvSpPr/>
          <p:nvPr/>
        </p:nvSpPr>
        <p:spPr>
          <a:xfrm>
            <a:off x="3409950" y="2430779"/>
            <a:ext cx="248669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8. AI Analyst</a:t>
            </a:r>
            <a:endParaRPr lang="en-US" sz="1100" dirty="0"/>
          </a:p>
        </p:txBody>
      </p:sp>
      <p:sp>
        <p:nvSpPr>
          <p:cNvPr id="13" name="Shape 11"/>
          <p:cNvSpPr/>
          <p:nvPr/>
        </p:nvSpPr>
        <p:spPr>
          <a:xfrm>
            <a:off x="6188075" y="1377317"/>
            <a:ext cx="5187950" cy="2100580"/>
          </a:xfrm>
          <a:prstGeom prst="roundRect">
            <a:avLst>
              <a:gd name="adj" fmla="val 4686"/>
            </a:avLst>
          </a:prstGeom>
          <a:solidFill>
            <a:srgbClr val="151C28"/>
          </a:solidFill>
          <a:ln w="6350">
            <a:solidFill>
              <a:srgbClr val="232C3A"/>
            </a:solidFill>
            <a:prstDash val="solid"/>
          </a:ln>
        </p:spPr>
      </p:sp>
      <p:sp>
        <p:nvSpPr>
          <p:cNvPr id="14" name="Text 12"/>
          <p:cNvSpPr/>
          <p:nvPr/>
        </p:nvSpPr>
        <p:spPr>
          <a:xfrm>
            <a:off x="6367780" y="1557021"/>
            <a:ext cx="497339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AD9C4"/>
                </a:solidFill>
                <a:latin typeface="IBM Plex Sans" pitchFamily="34" charset="0"/>
                <a:ea typeface="IBM Plex Sans" pitchFamily="34" charset="-122"/>
                <a:cs typeface="IBM Plex Sans" pitchFamily="34" charset="-120"/>
              </a:rPr>
              <a:t>AI Analyst — grounded, not generative</a:t>
            </a:r>
            <a:endParaRPr lang="en-US" sz="1300" dirty="0"/>
          </a:p>
        </p:txBody>
      </p:sp>
      <p:sp>
        <p:nvSpPr>
          <p:cNvPr id="15" name="Text 13"/>
          <p:cNvSpPr/>
          <p:nvPr/>
        </p:nvSpPr>
        <p:spPr>
          <a:xfrm>
            <a:off x="6367780" y="1831342"/>
            <a:ext cx="4973396" cy="1492250"/>
          </a:xfrm>
          <a:prstGeom prst="rect">
            <a:avLst/>
          </a:prstGeom>
          <a:noFill/>
          <a:ln/>
        </p:spPr>
        <p:txBody>
          <a:bodyPr wrap="square" lIns="0" tIns="0" rIns="0" bIns="0" rtlCol="0" anchor="t">
            <a:normAutofit/>
          </a:bodyPr>
          <a:lstStyle/>
          <a:p>
            <a:pPr algn="l" marL="342900" indent="-342900">
              <a:lnSpc>
                <a:spcPts val="1650"/>
              </a:lnSpc>
              <a:buSzPct val="100000"/>
              <a:buChar char="•"/>
            </a:pPr>
            <a:r>
              <a:rPr lang="en-US" sz="1100" dirty="0">
                <a:solidFill>
                  <a:srgbClr val="C7CFDA"/>
                </a:solidFill>
                <a:latin typeface="IBM Plex Sans" pitchFamily="34" charset="0"/>
                <a:ea typeface="IBM Plex Sans" pitchFamily="34" charset="-122"/>
                <a:cs typeface="IBM Plex Sans" pitchFamily="34" charset="-120"/>
              </a:rPr>
              <a:t>Supports 12 question types</a:t>
            </a:r>
            <a:endParaRPr lang="en-US" sz="1100" dirty="0"/>
          </a:p>
          <a:p>
            <a:pPr algn="l" marL="342900" indent="-342900">
              <a:lnSpc>
                <a:spcPts val="1650"/>
              </a:lnSpc>
              <a:buSzPct val="100000"/>
              <a:buChar char="•"/>
            </a:pPr>
            <a:r>
              <a:rPr lang="en-US" sz="1100" dirty="0">
                <a:solidFill>
                  <a:srgbClr val="C7CFDA"/>
                </a:solidFill>
                <a:latin typeface="IBM Plex Sans" pitchFamily="34" charset="0"/>
                <a:ea typeface="IBM Plex Sans" pitchFamily="34" charset="-122"/>
                <a:cs typeface="IBM Plex Sans" pitchFamily="34" charset="-120"/>
              </a:rPr>
              <a:t>Deterministic intent routing</a:t>
            </a:r>
            <a:endParaRPr lang="en-US" sz="1100" dirty="0"/>
          </a:p>
          <a:p>
            <a:pPr algn="l" marL="342900" indent="-342900">
              <a:lnSpc>
                <a:spcPts val="1650"/>
              </a:lnSpc>
              <a:buSzPct val="100000"/>
              <a:buChar char="•"/>
            </a:pPr>
            <a:r>
              <a:rPr lang="en-US" sz="1100" dirty="0">
                <a:solidFill>
                  <a:srgbClr val="C7CFDA"/>
                </a:solidFill>
                <a:latin typeface="IBM Plex Sans" pitchFamily="34" charset="0"/>
                <a:ea typeface="IBM Plex Sans" pitchFamily="34" charset="-122"/>
                <a:cs typeface="IBM Plex Sans" pitchFamily="34" charset="-120"/>
              </a:rPr>
              <a:t>Calls real, tested analysis functions</a:t>
            </a:r>
            <a:endParaRPr lang="en-US" sz="1100" dirty="0"/>
          </a:p>
          <a:p>
            <a:pPr algn="l" marL="342900" indent="-342900">
              <a:lnSpc>
                <a:spcPts val="1650"/>
              </a:lnSpc>
              <a:buSzPct val="100000"/>
              <a:buChar char="•"/>
            </a:pPr>
            <a:r>
              <a:rPr lang="en-US" sz="1100" dirty="0">
                <a:solidFill>
                  <a:srgbClr val="C7CFDA"/>
                </a:solidFill>
                <a:latin typeface="IBM Plex Sans" pitchFamily="34" charset="0"/>
                <a:ea typeface="IBM Plex Sans" pitchFamily="34" charset="-122"/>
                <a:cs typeface="IBM Plex Sans" pitchFamily="34" charset="-120"/>
              </a:rPr>
              <a:t>Never generates arbitrary SQL or code</a:t>
            </a:r>
            <a:endParaRPr lang="en-US" sz="1100" dirty="0"/>
          </a:p>
          <a:p>
            <a:pPr algn="l" marL="342900" indent="-342900">
              <a:lnSpc>
                <a:spcPts val="1650"/>
              </a:lnSpc>
              <a:buSzPct val="100000"/>
              <a:buChar char="•"/>
            </a:pPr>
            <a:r>
              <a:rPr lang="en-US" sz="1100" dirty="0">
                <a:solidFill>
                  <a:srgbClr val="C7CFDA"/>
                </a:solidFill>
                <a:latin typeface="IBM Plex Sans" pitchFamily="34" charset="0"/>
                <a:ea typeface="IBM Plex Sans" pitchFamily="34" charset="-122"/>
                <a:cs typeface="IBM Plex Sans" pitchFamily="34" charset="-120"/>
              </a:rPr>
              <a:t>Unsupported questions → explicit "cannot answer reliably"</a:t>
            </a:r>
            <a:endParaRPr lang="en-US" sz="1100" dirty="0"/>
          </a:p>
          <a:p>
            <a:pPr algn="l" marL="342900" indent="-342900">
              <a:lnSpc>
                <a:spcPts val="1650"/>
              </a:lnSpc>
              <a:buSzPct val="100000"/>
              <a:buChar char="•"/>
            </a:pPr>
            <a:r>
              <a:rPr lang="en-US" sz="1100" dirty="0">
                <a:solidFill>
                  <a:srgbClr val="C7CFDA"/>
                </a:solidFill>
                <a:latin typeface="IBM Plex Sans" pitchFamily="34" charset="0"/>
                <a:ea typeface="IBM Plex Sans" pitchFamily="34" charset="-122"/>
                <a:cs typeface="IBM Plex Sans" pitchFamily="34" charset="-120"/>
              </a:rPr>
              <a:t>Optional Anthropic API only polishes phrasing — numbers still come from the analytics functions</a:t>
            </a:r>
            <a:endParaRPr lang="en-US" sz="1100" dirty="0"/>
          </a:p>
        </p:txBody>
      </p:sp>
      <p:sp>
        <p:nvSpPr>
          <p:cNvPr id="16" name="Shape 14"/>
          <p:cNvSpPr/>
          <p:nvPr/>
        </p:nvSpPr>
        <p:spPr>
          <a:xfrm>
            <a:off x="815975" y="3636646"/>
            <a:ext cx="2130028" cy="613410"/>
          </a:xfrm>
          <a:prstGeom prst="roundRect">
            <a:avLst>
              <a:gd name="adj" fmla="val 11905"/>
            </a:avLst>
          </a:prstGeom>
          <a:solidFill>
            <a:srgbClr val="1B2433"/>
          </a:solidFill>
          <a:ln w="6350">
            <a:solidFill>
              <a:srgbClr val="2A3548"/>
            </a:solidFill>
            <a:prstDash val="solid"/>
          </a:ln>
        </p:spPr>
      </p:sp>
      <p:sp>
        <p:nvSpPr>
          <p:cNvPr id="17" name="Text 15"/>
          <p:cNvSpPr/>
          <p:nvPr/>
        </p:nvSpPr>
        <p:spPr>
          <a:xfrm>
            <a:off x="851392" y="3765551"/>
            <a:ext cx="2059195" cy="3810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F2F5F8"/>
                </a:solidFill>
                <a:latin typeface="IBM Plex Sans" pitchFamily="34" charset="0"/>
                <a:ea typeface="IBM Plex Sans" pitchFamily="34" charset="-122"/>
                <a:cs typeface="IBM Plex Sans" pitchFamily="34" charset="-120"/>
              </a:rPr>
              <a:t>"Which merchant has the highest risk?"</a:t>
            </a:r>
            <a:endParaRPr lang="en-US" sz="1000" dirty="0"/>
          </a:p>
        </p:txBody>
      </p:sp>
      <p:pic>
        <p:nvPicPr>
          <p:cNvPr id="18" name="Image 0" descr="arrow-right">    </p:cNvPr>
          <p:cNvPicPr>
            <a:picLocks noChangeAspect="1"/>
          </p:cNvPicPr>
          <p:nvPr/>
        </p:nvPicPr>
        <p:blipFill>
          <a:blip r:embed="rId1"/>
          <a:srcRect l="0" r="0" t="0" b="0"/>
          <a:stretch/>
        </p:blipFill>
        <p:spPr>
          <a:xfrm>
            <a:off x="3038078" y="3898900"/>
            <a:ext cx="177800" cy="88900"/>
          </a:xfrm>
          <a:prstGeom prst="rect">
            <a:avLst/>
          </a:prstGeom>
        </p:spPr>
      </p:pic>
      <p:sp>
        <p:nvSpPr>
          <p:cNvPr id="19" name="Shape 16"/>
          <p:cNvSpPr/>
          <p:nvPr/>
        </p:nvSpPr>
        <p:spPr>
          <a:xfrm>
            <a:off x="3307953" y="3725546"/>
            <a:ext cx="1668621" cy="435610"/>
          </a:xfrm>
          <a:prstGeom prst="roundRect">
            <a:avLst>
              <a:gd name="adj" fmla="val 16764"/>
            </a:avLst>
          </a:prstGeom>
          <a:solidFill>
            <a:srgbClr val="1B2433"/>
          </a:solidFill>
          <a:ln w="6350">
            <a:solidFill>
              <a:srgbClr val="2A3548"/>
            </a:solidFill>
            <a:prstDash val="solid"/>
          </a:ln>
        </p:spPr>
      </p:sp>
      <p:sp>
        <p:nvSpPr>
          <p:cNvPr id="20" name="Text 17"/>
          <p:cNvSpPr/>
          <p:nvPr/>
        </p:nvSpPr>
        <p:spPr>
          <a:xfrm>
            <a:off x="3347958" y="3854451"/>
            <a:ext cx="1588611"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F2F5F8"/>
                </a:solidFill>
                <a:latin typeface="IBM Plex Sans" pitchFamily="34" charset="0"/>
                <a:ea typeface="IBM Plex Sans" pitchFamily="34" charset="-122"/>
                <a:cs typeface="IBM Plex Sans" pitchFamily="34" charset="-120"/>
              </a:rPr>
              <a:t>Intent Router</a:t>
            </a:r>
            <a:endParaRPr lang="en-US" sz="1000" dirty="0"/>
          </a:p>
        </p:txBody>
      </p:sp>
      <p:pic>
        <p:nvPicPr>
          <p:cNvPr id="21" name="Image 1" descr="arrow-right">    </p:cNvPr>
          <p:cNvPicPr>
            <a:picLocks noChangeAspect="1"/>
          </p:cNvPicPr>
          <p:nvPr/>
        </p:nvPicPr>
        <p:blipFill>
          <a:blip r:embed="rId2"/>
          <a:srcRect l="0" r="0" t="0" b="0"/>
          <a:stretch/>
        </p:blipFill>
        <p:spPr>
          <a:xfrm>
            <a:off x="5068650" y="3898900"/>
            <a:ext cx="177800" cy="88900"/>
          </a:xfrm>
          <a:prstGeom prst="rect">
            <a:avLst/>
          </a:prstGeom>
        </p:spPr>
      </p:pic>
      <p:sp>
        <p:nvSpPr>
          <p:cNvPr id="22" name="Shape 18"/>
          <p:cNvSpPr/>
          <p:nvPr/>
        </p:nvSpPr>
        <p:spPr>
          <a:xfrm>
            <a:off x="5338525" y="3725546"/>
            <a:ext cx="1668701" cy="435610"/>
          </a:xfrm>
          <a:prstGeom prst="roundRect">
            <a:avLst>
              <a:gd name="adj" fmla="val 16764"/>
            </a:avLst>
          </a:prstGeom>
          <a:solidFill>
            <a:srgbClr val="1B2433"/>
          </a:solidFill>
          <a:ln w="6350">
            <a:solidFill>
              <a:srgbClr val="2A3548"/>
            </a:solidFill>
            <a:prstDash val="solid"/>
          </a:ln>
        </p:spPr>
      </p:sp>
      <p:sp>
        <p:nvSpPr>
          <p:cNvPr id="23" name="Text 19"/>
          <p:cNvSpPr/>
          <p:nvPr/>
        </p:nvSpPr>
        <p:spPr>
          <a:xfrm>
            <a:off x="5378530" y="3854451"/>
            <a:ext cx="1588691"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F2F5F8"/>
                </a:solidFill>
                <a:latin typeface="IBM Plex Sans" pitchFamily="34" charset="0"/>
                <a:ea typeface="IBM Plex Sans" pitchFamily="34" charset="-122"/>
                <a:cs typeface="IBM Plex Sans" pitchFamily="34" charset="-120"/>
              </a:rPr>
              <a:t>Tested Query Function</a:t>
            </a:r>
            <a:endParaRPr lang="en-US" sz="1000" dirty="0"/>
          </a:p>
        </p:txBody>
      </p:sp>
      <p:pic>
        <p:nvPicPr>
          <p:cNvPr id="24" name="Image 2" descr="arrow-right">    </p:cNvPr>
          <p:cNvPicPr>
            <a:picLocks noChangeAspect="1"/>
          </p:cNvPicPr>
          <p:nvPr/>
        </p:nvPicPr>
        <p:blipFill>
          <a:blip r:embed="rId3"/>
          <a:srcRect l="0" r="0" t="0" b="0"/>
          <a:stretch/>
        </p:blipFill>
        <p:spPr>
          <a:xfrm>
            <a:off x="7099300" y="3898900"/>
            <a:ext cx="177800" cy="88900"/>
          </a:xfrm>
          <a:prstGeom prst="rect">
            <a:avLst/>
          </a:prstGeom>
        </p:spPr>
      </p:pic>
      <p:sp>
        <p:nvSpPr>
          <p:cNvPr id="25" name="Shape 20"/>
          <p:cNvSpPr/>
          <p:nvPr/>
        </p:nvSpPr>
        <p:spPr>
          <a:xfrm>
            <a:off x="7369175" y="3725546"/>
            <a:ext cx="1668701" cy="435610"/>
          </a:xfrm>
          <a:prstGeom prst="roundRect">
            <a:avLst>
              <a:gd name="adj" fmla="val 16764"/>
            </a:avLst>
          </a:prstGeom>
          <a:solidFill>
            <a:srgbClr val="1B2433"/>
          </a:solidFill>
          <a:ln w="6350">
            <a:solidFill>
              <a:srgbClr val="2A3548"/>
            </a:solidFill>
            <a:prstDash val="solid"/>
          </a:ln>
        </p:spPr>
      </p:sp>
      <p:sp>
        <p:nvSpPr>
          <p:cNvPr id="26" name="Text 21"/>
          <p:cNvSpPr/>
          <p:nvPr/>
        </p:nvSpPr>
        <p:spPr>
          <a:xfrm>
            <a:off x="7409180" y="3854451"/>
            <a:ext cx="1588691"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F2F5F8"/>
                </a:solidFill>
                <a:latin typeface="IBM Plex Sans" pitchFamily="34" charset="0"/>
                <a:ea typeface="IBM Plex Sans" pitchFamily="34" charset="-122"/>
                <a:cs typeface="IBM Plex Sans" pitchFamily="34" charset="-120"/>
              </a:rPr>
              <a:t>Analytics Result</a:t>
            </a:r>
            <a:endParaRPr lang="en-US" sz="1000" dirty="0"/>
          </a:p>
        </p:txBody>
      </p:sp>
      <p:pic>
        <p:nvPicPr>
          <p:cNvPr id="27" name="Image 3" descr="arrow-right">    </p:cNvPr>
          <p:cNvPicPr>
            <a:picLocks noChangeAspect="1"/>
          </p:cNvPicPr>
          <p:nvPr/>
        </p:nvPicPr>
        <p:blipFill>
          <a:blip r:embed="rId4"/>
          <a:srcRect l="0" r="0" t="0" b="0"/>
          <a:stretch/>
        </p:blipFill>
        <p:spPr>
          <a:xfrm>
            <a:off x="9129950" y="3898900"/>
            <a:ext cx="177800" cy="88900"/>
          </a:xfrm>
          <a:prstGeom prst="rect">
            <a:avLst/>
          </a:prstGeom>
        </p:spPr>
      </p:pic>
      <p:sp>
        <p:nvSpPr>
          <p:cNvPr id="28" name="Shape 22"/>
          <p:cNvSpPr/>
          <p:nvPr/>
        </p:nvSpPr>
        <p:spPr>
          <a:xfrm>
            <a:off x="9399825" y="3725546"/>
            <a:ext cx="1976199" cy="435610"/>
          </a:xfrm>
          <a:prstGeom prst="roundRect">
            <a:avLst>
              <a:gd name="adj" fmla="val 16764"/>
            </a:avLst>
          </a:prstGeom>
          <a:solidFill>
            <a:srgbClr val="132A26"/>
          </a:solidFill>
          <a:ln w="6350">
            <a:solidFill>
              <a:srgbClr val="1E4640"/>
            </a:solidFill>
            <a:prstDash val="solid"/>
          </a:ln>
        </p:spPr>
      </p:sp>
      <p:sp>
        <p:nvSpPr>
          <p:cNvPr id="29" name="Text 23"/>
          <p:cNvSpPr/>
          <p:nvPr/>
        </p:nvSpPr>
        <p:spPr>
          <a:xfrm>
            <a:off x="9437550" y="3854451"/>
            <a:ext cx="1900751"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2AD9C4"/>
                </a:solidFill>
                <a:latin typeface="IBM Plex Sans" pitchFamily="34" charset="0"/>
                <a:ea typeface="IBM Plex Sans" pitchFamily="34" charset="-122"/>
                <a:cs typeface="IBM Plex Sans" pitchFamily="34" charset="-120"/>
              </a:rPr>
              <a:t>Human-readable Answer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812800" y="812800"/>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2F5F8"/>
                </a:solidFill>
                <a:latin typeface="Space Grotesk" pitchFamily="34" charset="0"/>
                <a:ea typeface="Space Grotesk" pitchFamily="34" charset="-122"/>
                <a:cs typeface="Space Grotesk" pitchFamily="34" charset="-120"/>
              </a:rPr>
              <a:t>Built To Be Trusted: Reliability &amp; Testing</a:t>
            </a:r>
            <a:endParaRPr lang="en-US" sz="2800" dirty="0"/>
          </a:p>
        </p:txBody>
      </p:sp>
      <p:sp>
        <p:nvSpPr>
          <p:cNvPr id="3" name="Shape 1"/>
          <p:cNvSpPr/>
          <p:nvPr/>
        </p:nvSpPr>
        <p:spPr>
          <a:xfrm>
            <a:off x="815975" y="1402717"/>
            <a:ext cx="3397250" cy="1245870"/>
          </a:xfrm>
          <a:prstGeom prst="roundRect">
            <a:avLst>
              <a:gd name="adj" fmla="val 7900"/>
            </a:avLst>
          </a:prstGeom>
          <a:solidFill>
            <a:srgbClr val="151C28"/>
          </a:solidFill>
          <a:ln w="6350">
            <a:solidFill>
              <a:srgbClr val="232C3A"/>
            </a:solidFill>
            <a:prstDash val="solid"/>
          </a:ln>
        </p:spPr>
      </p:sp>
      <p:sp>
        <p:nvSpPr>
          <p:cNvPr id="4" name="Text 2"/>
          <p:cNvSpPr/>
          <p:nvPr/>
        </p:nvSpPr>
        <p:spPr>
          <a:xfrm>
            <a:off x="995680" y="1582421"/>
            <a:ext cx="312897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AD9C4"/>
                </a:solidFill>
                <a:latin typeface="Space Grotesk" pitchFamily="34" charset="0"/>
                <a:ea typeface="Space Grotesk" pitchFamily="34" charset="-122"/>
                <a:cs typeface="Space Grotesk" pitchFamily="34" charset="-120"/>
              </a:rPr>
              <a:t>121</a:t>
            </a:r>
            <a:endParaRPr lang="en-US" sz="3600" dirty="0"/>
          </a:p>
        </p:txBody>
      </p:sp>
      <p:sp>
        <p:nvSpPr>
          <p:cNvPr id="5" name="Text 3"/>
          <p:cNvSpPr/>
          <p:nvPr/>
        </p:nvSpPr>
        <p:spPr>
          <a:xfrm>
            <a:off x="995680" y="2077721"/>
            <a:ext cx="3128975" cy="4165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B96A5"/>
                </a:solidFill>
                <a:latin typeface="IBM Plex Sans" pitchFamily="34" charset="0"/>
                <a:ea typeface="IBM Plex Sans" pitchFamily="34" charset="-122"/>
                <a:cs typeface="IBM Plex Sans" pitchFamily="34" charset="-120"/>
              </a:rPr>
              <a:t>automated tests, run against the actual uploaded dataset</a:t>
            </a:r>
            <a:endParaRPr lang="en-US" sz="1100" dirty="0"/>
          </a:p>
        </p:txBody>
      </p:sp>
      <p:sp>
        <p:nvSpPr>
          <p:cNvPr id="6" name="Shape 4"/>
          <p:cNvSpPr/>
          <p:nvPr/>
        </p:nvSpPr>
        <p:spPr>
          <a:xfrm>
            <a:off x="4397375" y="1402717"/>
            <a:ext cx="3397250" cy="1245870"/>
          </a:xfrm>
          <a:prstGeom prst="roundRect">
            <a:avLst>
              <a:gd name="adj" fmla="val 7900"/>
            </a:avLst>
          </a:prstGeom>
          <a:solidFill>
            <a:srgbClr val="151C28"/>
          </a:solidFill>
          <a:ln w="6350">
            <a:solidFill>
              <a:srgbClr val="232C3A"/>
            </a:solidFill>
            <a:prstDash val="solid"/>
          </a:ln>
        </p:spPr>
      </p:sp>
      <p:sp>
        <p:nvSpPr>
          <p:cNvPr id="7" name="Text 5"/>
          <p:cNvSpPr/>
          <p:nvPr/>
        </p:nvSpPr>
        <p:spPr>
          <a:xfrm>
            <a:off x="4577080" y="1582421"/>
            <a:ext cx="312897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AD9C4"/>
                </a:solidFill>
                <a:latin typeface="Space Grotesk" pitchFamily="34" charset="0"/>
                <a:ea typeface="Space Grotesk" pitchFamily="34" charset="-122"/>
                <a:cs typeface="Space Grotesk" pitchFamily="34" charset="-120"/>
              </a:rPr>
              <a:t>8 / 8</a:t>
            </a:r>
            <a:endParaRPr lang="en-US" sz="3600" dirty="0"/>
          </a:p>
        </p:txBody>
      </p:sp>
      <p:sp>
        <p:nvSpPr>
          <p:cNvPr id="8" name="Text 6"/>
          <p:cNvSpPr/>
          <p:nvPr/>
        </p:nvSpPr>
        <p:spPr>
          <a:xfrm>
            <a:off x="4577080" y="2077721"/>
            <a:ext cx="3128975" cy="4165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B96A5"/>
                </a:solidFill>
                <a:latin typeface="IBM Plex Sans" pitchFamily="34" charset="0"/>
                <a:ea typeface="IBM Plex Sans" pitchFamily="34" charset="-122"/>
                <a:cs typeface="IBM Plex Sans" pitchFamily="34" charset="-120"/>
              </a:rPr>
              <a:t>dashboard pages exercised with Streamlit AppTest</a:t>
            </a:r>
            <a:endParaRPr lang="en-US" sz="1100" dirty="0"/>
          </a:p>
        </p:txBody>
      </p:sp>
      <p:sp>
        <p:nvSpPr>
          <p:cNvPr id="9" name="Shape 7"/>
          <p:cNvSpPr/>
          <p:nvPr/>
        </p:nvSpPr>
        <p:spPr>
          <a:xfrm>
            <a:off x="7978775" y="1402717"/>
            <a:ext cx="3397250" cy="1245870"/>
          </a:xfrm>
          <a:prstGeom prst="roundRect">
            <a:avLst>
              <a:gd name="adj" fmla="val 7900"/>
            </a:avLst>
          </a:prstGeom>
          <a:solidFill>
            <a:srgbClr val="151C28"/>
          </a:solidFill>
          <a:ln w="6350">
            <a:solidFill>
              <a:srgbClr val="232C3A"/>
            </a:solidFill>
            <a:prstDash val="solid"/>
          </a:ln>
        </p:spPr>
      </p:sp>
      <p:sp>
        <p:nvSpPr>
          <p:cNvPr id="10" name="Text 8"/>
          <p:cNvSpPr/>
          <p:nvPr/>
        </p:nvSpPr>
        <p:spPr>
          <a:xfrm>
            <a:off x="8158480" y="1582421"/>
            <a:ext cx="312897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AD9C4"/>
                </a:solidFill>
                <a:latin typeface="Space Grotesk" pitchFamily="34" charset="0"/>
                <a:ea typeface="Space Grotesk" pitchFamily="34" charset="-122"/>
                <a:cs typeface="Space Grotesk" pitchFamily="34" charset="-120"/>
              </a:rPr>
              <a:t>HTTP 200</a:t>
            </a:r>
            <a:endParaRPr lang="en-US" sz="3600" dirty="0"/>
          </a:p>
        </p:txBody>
      </p:sp>
      <p:sp>
        <p:nvSpPr>
          <p:cNvPr id="11" name="Text 9"/>
          <p:cNvSpPr/>
          <p:nvPr/>
        </p:nvSpPr>
        <p:spPr>
          <a:xfrm>
            <a:off x="8158480" y="2077721"/>
            <a:ext cx="3128975"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B96A5"/>
                </a:solidFill>
                <a:latin typeface="IBM Plex Sans" pitchFamily="34" charset="0"/>
                <a:ea typeface="IBM Plex Sans" pitchFamily="34" charset="-122"/>
                <a:cs typeface="IBM Plex Sans" pitchFamily="34" charset="-120"/>
              </a:rPr>
              <a:t>local server health checks, verified</a:t>
            </a:r>
            <a:endParaRPr lang="en-US" sz="1100" dirty="0"/>
          </a:p>
        </p:txBody>
      </p:sp>
      <p:sp>
        <p:nvSpPr>
          <p:cNvPr id="12" name="Text 10"/>
          <p:cNvSpPr/>
          <p:nvPr/>
        </p:nvSpPr>
        <p:spPr>
          <a:xfrm>
            <a:off x="812800" y="2829564"/>
            <a:ext cx="10883392" cy="513080"/>
          </a:xfrm>
          <a:prstGeom prst="rect">
            <a:avLst/>
          </a:prstGeom>
          <a:noFill/>
          <a:ln/>
        </p:spPr>
        <p:txBody>
          <a:bodyPr wrap="square" lIns="0" tIns="0" rIns="0" bIns="0" rtlCol="0" anchor="t">
            <a:normAutofit/>
          </a:bodyPr>
          <a:lstStyle/>
          <a:p>
            <a:pPr algn="l" marL="342900" indent="-342900">
              <a:lnSpc>
                <a:spcPts val="1920"/>
              </a:lnSpc>
              <a:buSzPct val="100000"/>
              <a:buChar char="•"/>
            </a:pPr>
            <a:r>
              <a:rPr lang="en-US" sz="1200" dirty="0">
                <a:solidFill>
                  <a:srgbClr val="C7CFDA"/>
                </a:solidFill>
                <a:latin typeface="IBM Plex Sans" pitchFamily="34" charset="0"/>
                <a:ea typeface="IBM Plex Sans" pitchFamily="34" charset="-122"/>
                <a:cs typeface="IBM Plex Sans" pitchFamily="34" charset="-120"/>
              </a:rPr>
              <a:t>Regression guards protect the documented data-quality findings</a:t>
            </a:r>
            <a:endParaRPr lang="en-US" sz="1200" dirty="0"/>
          </a:p>
          <a:p>
            <a:pPr algn="l" marL="342900" indent="-342900">
              <a:lnSpc>
                <a:spcPts val="1920"/>
              </a:lnSpc>
              <a:buSzPct val="100000"/>
              <a:buChar char="•"/>
            </a:pPr>
            <a:r>
              <a:rPr lang="en-US" sz="1200" dirty="0">
                <a:solidFill>
                  <a:srgbClr val="C7CFDA"/>
                </a:solidFill>
                <a:latin typeface="IBM Plex Sans" pitchFamily="34" charset="0"/>
                <a:ea typeface="IBM Plex Sans" pitchFamily="34" charset="-122"/>
                <a:cs typeface="IBM Plex Sans" pitchFamily="34" charset="-120"/>
              </a:rPr>
              <a:t>Divide-by-zero and empty-data protections throughout</a:t>
            </a:r>
            <a:endParaRPr lang="en-US" sz="1200" dirty="0"/>
          </a:p>
        </p:txBody>
      </p:sp>
      <p:sp>
        <p:nvSpPr>
          <p:cNvPr id="13" name="Shape 11"/>
          <p:cNvSpPr/>
          <p:nvPr/>
        </p:nvSpPr>
        <p:spPr>
          <a:xfrm>
            <a:off x="815975" y="3498217"/>
            <a:ext cx="1781810" cy="471170"/>
          </a:xfrm>
          <a:prstGeom prst="roundRect">
            <a:avLst>
              <a:gd name="adj" fmla="val 15499"/>
            </a:avLst>
          </a:prstGeom>
          <a:solidFill>
            <a:srgbClr val="1B2433"/>
          </a:solidFill>
          <a:ln w="6350">
            <a:solidFill>
              <a:srgbClr val="2A3548"/>
            </a:solidFill>
            <a:prstDash val="solid"/>
          </a:ln>
        </p:spPr>
      </p:sp>
      <p:sp>
        <p:nvSpPr>
          <p:cNvPr id="14" name="Text 12"/>
          <p:cNvSpPr/>
          <p:nvPr/>
        </p:nvSpPr>
        <p:spPr>
          <a:xfrm>
            <a:off x="868680" y="3627122"/>
            <a:ext cx="16764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8"/>
                </a:solidFill>
                <a:latin typeface="IBM Plex Sans" pitchFamily="34" charset="0"/>
                <a:ea typeface="IBM Plex Sans" pitchFamily="34" charset="-122"/>
                <a:cs typeface="IBM Plex Sans" pitchFamily="34" charset="-120"/>
              </a:rPr>
              <a:t>DATA</a:t>
            </a:r>
            <a:endParaRPr lang="en-US" sz="1200" dirty="0"/>
          </a:p>
        </p:txBody>
      </p:sp>
      <p:pic>
        <p:nvPicPr>
          <p:cNvPr id="15" name="Image 0" descr="arrow-right">    </p:cNvPr>
          <p:cNvPicPr>
            <a:picLocks noChangeAspect="1"/>
          </p:cNvPicPr>
          <p:nvPr/>
        </p:nvPicPr>
        <p:blipFill>
          <a:blip r:embed="rId1"/>
          <a:srcRect l="0" r="0" t="0" b="0"/>
          <a:stretch/>
        </p:blipFill>
        <p:spPr>
          <a:xfrm>
            <a:off x="2702560" y="3683000"/>
            <a:ext cx="203200" cy="101600"/>
          </a:xfrm>
          <a:prstGeom prst="rect">
            <a:avLst/>
          </a:prstGeom>
        </p:spPr>
      </p:pic>
      <p:sp>
        <p:nvSpPr>
          <p:cNvPr id="16" name="Shape 13"/>
          <p:cNvSpPr/>
          <p:nvPr/>
        </p:nvSpPr>
        <p:spPr>
          <a:xfrm>
            <a:off x="3010535" y="3498217"/>
            <a:ext cx="1781810" cy="471170"/>
          </a:xfrm>
          <a:prstGeom prst="roundRect">
            <a:avLst>
              <a:gd name="adj" fmla="val 15499"/>
            </a:avLst>
          </a:prstGeom>
          <a:solidFill>
            <a:srgbClr val="1B2433"/>
          </a:solidFill>
          <a:ln w="6350">
            <a:solidFill>
              <a:srgbClr val="2A3548"/>
            </a:solidFill>
            <a:prstDash val="solid"/>
          </a:ln>
        </p:spPr>
      </p:sp>
      <p:sp>
        <p:nvSpPr>
          <p:cNvPr id="17" name="Text 14"/>
          <p:cNvSpPr/>
          <p:nvPr/>
        </p:nvSpPr>
        <p:spPr>
          <a:xfrm>
            <a:off x="3063240" y="3627122"/>
            <a:ext cx="16764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8"/>
                </a:solidFill>
                <a:latin typeface="IBM Plex Sans" pitchFamily="34" charset="0"/>
                <a:ea typeface="IBM Plex Sans" pitchFamily="34" charset="-122"/>
                <a:cs typeface="IBM Plex Sans" pitchFamily="34" charset="-120"/>
              </a:rPr>
              <a:t>PIPELINE</a:t>
            </a:r>
            <a:endParaRPr lang="en-US" sz="1200" dirty="0"/>
          </a:p>
        </p:txBody>
      </p:sp>
      <p:pic>
        <p:nvPicPr>
          <p:cNvPr id="18" name="Image 1" descr="arrow-right">    </p:cNvPr>
          <p:cNvPicPr>
            <a:picLocks noChangeAspect="1"/>
          </p:cNvPicPr>
          <p:nvPr/>
        </p:nvPicPr>
        <p:blipFill>
          <a:blip r:embed="rId2"/>
          <a:srcRect l="0" r="0" t="0" b="0"/>
          <a:stretch/>
        </p:blipFill>
        <p:spPr>
          <a:xfrm>
            <a:off x="4897120" y="3683000"/>
            <a:ext cx="203200" cy="101600"/>
          </a:xfrm>
          <a:prstGeom prst="rect">
            <a:avLst/>
          </a:prstGeom>
        </p:spPr>
      </p:pic>
      <p:sp>
        <p:nvSpPr>
          <p:cNvPr id="19" name="Shape 15"/>
          <p:cNvSpPr/>
          <p:nvPr/>
        </p:nvSpPr>
        <p:spPr>
          <a:xfrm>
            <a:off x="5205095" y="3498217"/>
            <a:ext cx="1781810" cy="471170"/>
          </a:xfrm>
          <a:prstGeom prst="roundRect">
            <a:avLst>
              <a:gd name="adj" fmla="val 15499"/>
            </a:avLst>
          </a:prstGeom>
          <a:solidFill>
            <a:srgbClr val="1B2433"/>
          </a:solidFill>
          <a:ln w="6350">
            <a:solidFill>
              <a:srgbClr val="2A3548"/>
            </a:solidFill>
            <a:prstDash val="solid"/>
          </a:ln>
        </p:spPr>
      </p:sp>
      <p:sp>
        <p:nvSpPr>
          <p:cNvPr id="20" name="Text 16"/>
          <p:cNvSpPr/>
          <p:nvPr/>
        </p:nvSpPr>
        <p:spPr>
          <a:xfrm>
            <a:off x="5257800" y="3627122"/>
            <a:ext cx="16764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8"/>
                </a:solidFill>
                <a:latin typeface="IBM Plex Sans" pitchFamily="34" charset="0"/>
                <a:ea typeface="IBM Plex Sans" pitchFamily="34" charset="-122"/>
                <a:cs typeface="IBM Plex Sans" pitchFamily="34" charset="-120"/>
              </a:rPr>
              <a:t>TESTS</a:t>
            </a:r>
            <a:endParaRPr lang="en-US" sz="1200" dirty="0"/>
          </a:p>
        </p:txBody>
      </p:sp>
      <p:pic>
        <p:nvPicPr>
          <p:cNvPr id="21" name="Image 2" descr="arrow-right">    </p:cNvPr>
          <p:cNvPicPr>
            <a:picLocks noChangeAspect="1"/>
          </p:cNvPicPr>
          <p:nvPr/>
        </p:nvPicPr>
        <p:blipFill>
          <a:blip r:embed="rId3"/>
          <a:srcRect l="0" r="0" t="0" b="0"/>
          <a:stretch/>
        </p:blipFill>
        <p:spPr>
          <a:xfrm>
            <a:off x="7091680" y="3683000"/>
            <a:ext cx="203200" cy="101600"/>
          </a:xfrm>
          <a:prstGeom prst="rect">
            <a:avLst/>
          </a:prstGeom>
        </p:spPr>
      </p:pic>
      <p:sp>
        <p:nvSpPr>
          <p:cNvPr id="22" name="Shape 17"/>
          <p:cNvSpPr/>
          <p:nvPr/>
        </p:nvSpPr>
        <p:spPr>
          <a:xfrm>
            <a:off x="7399655" y="3498217"/>
            <a:ext cx="1781810" cy="471170"/>
          </a:xfrm>
          <a:prstGeom prst="roundRect">
            <a:avLst>
              <a:gd name="adj" fmla="val 15499"/>
            </a:avLst>
          </a:prstGeom>
          <a:solidFill>
            <a:srgbClr val="1B2433"/>
          </a:solidFill>
          <a:ln w="6350">
            <a:solidFill>
              <a:srgbClr val="2A3548"/>
            </a:solidFill>
            <a:prstDash val="solid"/>
          </a:ln>
        </p:spPr>
      </p:sp>
      <p:sp>
        <p:nvSpPr>
          <p:cNvPr id="23" name="Text 18"/>
          <p:cNvSpPr/>
          <p:nvPr/>
        </p:nvSpPr>
        <p:spPr>
          <a:xfrm>
            <a:off x="7452360" y="3627122"/>
            <a:ext cx="16764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2F5F8"/>
                </a:solidFill>
                <a:latin typeface="IBM Plex Sans" pitchFamily="34" charset="0"/>
                <a:ea typeface="IBM Plex Sans" pitchFamily="34" charset="-122"/>
                <a:cs typeface="IBM Plex Sans" pitchFamily="34" charset="-120"/>
              </a:rPr>
              <a:t>DASHBOARD</a:t>
            </a:r>
            <a:endParaRPr lang="en-US" sz="1200" dirty="0"/>
          </a:p>
        </p:txBody>
      </p:sp>
      <p:pic>
        <p:nvPicPr>
          <p:cNvPr id="24" name="Image 3" descr="arrow-right">    </p:cNvPr>
          <p:cNvPicPr>
            <a:picLocks noChangeAspect="1"/>
          </p:cNvPicPr>
          <p:nvPr/>
        </p:nvPicPr>
        <p:blipFill>
          <a:blip r:embed="rId4"/>
          <a:srcRect l="0" r="0" t="0" b="0"/>
          <a:stretch/>
        </p:blipFill>
        <p:spPr>
          <a:xfrm>
            <a:off x="9286240" y="3683000"/>
            <a:ext cx="203200" cy="101600"/>
          </a:xfrm>
          <a:prstGeom prst="rect">
            <a:avLst/>
          </a:prstGeom>
        </p:spPr>
      </p:pic>
      <p:sp>
        <p:nvSpPr>
          <p:cNvPr id="25" name="Shape 19"/>
          <p:cNvSpPr/>
          <p:nvPr/>
        </p:nvSpPr>
        <p:spPr>
          <a:xfrm>
            <a:off x="9594215" y="3498217"/>
            <a:ext cx="1781810" cy="471170"/>
          </a:xfrm>
          <a:prstGeom prst="roundRect">
            <a:avLst>
              <a:gd name="adj" fmla="val 15499"/>
            </a:avLst>
          </a:prstGeom>
          <a:solidFill>
            <a:srgbClr val="132A26"/>
          </a:solidFill>
          <a:ln w="6350">
            <a:solidFill>
              <a:srgbClr val="1E4640"/>
            </a:solidFill>
            <a:prstDash val="solid"/>
          </a:ln>
        </p:spPr>
      </p:sp>
      <p:sp>
        <p:nvSpPr>
          <p:cNvPr id="26" name="Text 20"/>
          <p:cNvSpPr/>
          <p:nvPr/>
        </p:nvSpPr>
        <p:spPr>
          <a:xfrm>
            <a:off x="9646920" y="3627122"/>
            <a:ext cx="16764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AD9C4"/>
                </a:solidFill>
                <a:latin typeface="IBM Plex Sans" pitchFamily="34" charset="0"/>
                <a:ea typeface="IBM Plex Sans" pitchFamily="34" charset="-122"/>
                <a:cs typeface="IBM Plex Sans" pitchFamily="34" charset="-120"/>
              </a:rPr>
              <a:t>VERIFIED OUTPUT</a:t>
            </a:r>
            <a:endParaRPr lang="en-US" sz="1200" dirty="0"/>
          </a:p>
        </p:txBody>
      </p:sp>
      <p:sp>
        <p:nvSpPr>
          <p:cNvPr id="27" name="Text 21"/>
          <p:cNvSpPr/>
          <p:nvPr/>
        </p:nvSpPr>
        <p:spPr>
          <a:xfrm>
            <a:off x="812800" y="4150364"/>
            <a:ext cx="1088339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472"/>
                </a:solidFill>
                <a:latin typeface="IBM Plex Sans" pitchFamily="34" charset="0"/>
                <a:ea typeface="IBM Plex Sans" pitchFamily="34" charset="-122"/>
                <a:cs typeface="IBM Plex Sans" pitchFamily="34" charset="-120"/>
              </a:rPr>
              <a:t>The dashboard and the AI Analyst share the same tested analytics functions — the interface and the calculation can't disagree.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620"/>
        </a:solidFill>
      </p:bgPr>
    </p:bg>
    <p:spTree>
      <p:nvGrpSpPr>
        <p:cNvPr id="1" name=""/>
        <p:cNvGrpSpPr/>
        <p:nvPr/>
      </p:nvGrpSpPr>
      <p:grpSpPr>
        <a:xfrm>
          <a:off x="0" y="0"/>
          <a:ext cx="0" cy="0"/>
          <a:chOff x="0" y="0"/>
          <a:chExt cx="0" cy="0"/>
        </a:xfrm>
      </p:grpSpPr>
      <p:sp>
        <p:nvSpPr>
          <p:cNvPr id="2" name="Text 0"/>
          <p:cNvSpPr/>
          <p:nvPr/>
        </p:nvSpPr>
        <p:spPr>
          <a:xfrm>
            <a:off x="812800" y="812800"/>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2F5F8"/>
                </a:solidFill>
                <a:latin typeface="Space Grotesk" pitchFamily="34" charset="0"/>
                <a:ea typeface="Space Grotesk" pitchFamily="34" charset="-122"/>
                <a:cs typeface="Space Grotesk" pitchFamily="34" charset="-120"/>
              </a:rPr>
              <a:t>Limitations &amp; Responsible Analytics</a:t>
            </a:r>
            <a:endParaRPr lang="en-US" sz="2800" dirty="0"/>
          </a:p>
        </p:txBody>
      </p:sp>
      <p:sp>
        <p:nvSpPr>
          <p:cNvPr id="3" name="Shape 1"/>
          <p:cNvSpPr/>
          <p:nvPr/>
        </p:nvSpPr>
        <p:spPr>
          <a:xfrm>
            <a:off x="815975" y="1428117"/>
            <a:ext cx="5200650" cy="763270"/>
          </a:xfrm>
          <a:prstGeom prst="roundRect">
            <a:avLst>
              <a:gd name="adj" fmla="val 11231"/>
            </a:avLst>
          </a:prstGeom>
          <a:solidFill>
            <a:srgbClr val="151C28"/>
          </a:solidFill>
          <a:ln w="6350">
            <a:solidFill>
              <a:srgbClr val="232C3A"/>
            </a:solidFill>
            <a:prstDash val="solid"/>
          </a:ln>
        </p:spPr>
      </p:sp>
      <p:sp>
        <p:nvSpPr>
          <p:cNvPr id="4" name="Text 2"/>
          <p:cNvSpPr/>
          <p:nvPr/>
        </p:nvSpPr>
        <p:spPr>
          <a:xfrm>
            <a:off x="982980" y="1595121"/>
            <a:ext cx="5012639"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7A45"/>
                </a:solidFill>
                <a:latin typeface="IBM Plex Sans" pitchFamily="34" charset="0"/>
                <a:ea typeface="IBM Plex Sans" pitchFamily="34" charset="-122"/>
                <a:cs typeface="IBM Plex Sans" pitchFamily="34" charset="-120"/>
              </a:rPr>
              <a:t>Partial identity coverage</a:t>
            </a:r>
            <a:endParaRPr lang="en-US" sz="1200" dirty="0"/>
          </a:p>
        </p:txBody>
      </p:sp>
      <p:sp>
        <p:nvSpPr>
          <p:cNvPr id="5" name="Text 3"/>
          <p:cNvSpPr/>
          <p:nvPr/>
        </p:nvSpPr>
        <p:spPr>
          <a:xfrm>
            <a:off x="982980" y="1828800"/>
            <a:ext cx="5012639"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KYC and merchant-master joins cover only ~30–48% of transactions.</a:t>
            </a:r>
            <a:endParaRPr lang="en-US" sz="1100" dirty="0"/>
          </a:p>
        </p:txBody>
      </p:sp>
      <p:sp>
        <p:nvSpPr>
          <p:cNvPr id="6" name="Shape 4"/>
          <p:cNvSpPr/>
          <p:nvPr/>
        </p:nvSpPr>
        <p:spPr>
          <a:xfrm>
            <a:off x="6175375" y="1428117"/>
            <a:ext cx="5200650" cy="763270"/>
          </a:xfrm>
          <a:prstGeom prst="roundRect">
            <a:avLst>
              <a:gd name="adj" fmla="val 11231"/>
            </a:avLst>
          </a:prstGeom>
          <a:solidFill>
            <a:srgbClr val="151C28"/>
          </a:solidFill>
          <a:ln w="6350">
            <a:solidFill>
              <a:srgbClr val="232C3A"/>
            </a:solidFill>
            <a:prstDash val="solid"/>
          </a:ln>
        </p:spPr>
      </p:sp>
      <p:sp>
        <p:nvSpPr>
          <p:cNvPr id="7" name="Text 5"/>
          <p:cNvSpPr/>
          <p:nvPr/>
        </p:nvSpPr>
        <p:spPr>
          <a:xfrm>
            <a:off x="6342380" y="1595121"/>
            <a:ext cx="5012639"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7A45"/>
                </a:solidFill>
                <a:latin typeface="IBM Plex Sans" pitchFamily="34" charset="0"/>
                <a:ea typeface="IBM Plex Sans" pitchFamily="34" charset="-122"/>
                <a:cs typeface="IBM Plex Sans" pitchFamily="34" charset="-120"/>
              </a:rPr>
              <a:t>Identity collisions</a:t>
            </a:r>
            <a:endParaRPr lang="en-US" sz="1200" dirty="0"/>
          </a:p>
        </p:txBody>
      </p:sp>
      <p:sp>
        <p:nvSpPr>
          <p:cNvPr id="8" name="Text 6"/>
          <p:cNvSpPr/>
          <p:nvPr/>
        </p:nvSpPr>
        <p:spPr>
          <a:xfrm>
            <a:off x="6342380" y="1828800"/>
            <a:ext cx="5012639"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Collisions exist within the KYC and merchant-master identity data.</a:t>
            </a:r>
            <a:endParaRPr lang="en-US" sz="1100" dirty="0"/>
          </a:p>
        </p:txBody>
      </p:sp>
      <p:sp>
        <p:nvSpPr>
          <p:cNvPr id="9" name="Shape 7"/>
          <p:cNvSpPr/>
          <p:nvPr/>
        </p:nvSpPr>
        <p:spPr>
          <a:xfrm>
            <a:off x="815975" y="2350139"/>
            <a:ext cx="5200650" cy="763270"/>
          </a:xfrm>
          <a:prstGeom prst="roundRect">
            <a:avLst>
              <a:gd name="adj" fmla="val 11231"/>
            </a:avLst>
          </a:prstGeom>
          <a:solidFill>
            <a:srgbClr val="151C28"/>
          </a:solidFill>
          <a:ln w="6350">
            <a:solidFill>
              <a:srgbClr val="232C3A"/>
            </a:solidFill>
            <a:prstDash val="solid"/>
          </a:ln>
        </p:spPr>
      </p:sp>
      <p:sp>
        <p:nvSpPr>
          <p:cNvPr id="10" name="Text 8"/>
          <p:cNvSpPr/>
          <p:nvPr/>
        </p:nvSpPr>
        <p:spPr>
          <a:xfrm>
            <a:off x="982980" y="2517142"/>
            <a:ext cx="5012639"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7A45"/>
                </a:solidFill>
                <a:latin typeface="IBM Plex Sans" pitchFamily="34" charset="0"/>
                <a:ea typeface="IBM Plex Sans" pitchFamily="34" charset="-122"/>
                <a:cs typeface="IBM Plex Sans" pitchFamily="34" charset="-120"/>
              </a:rPr>
              <a:t>No ground truth</a:t>
            </a:r>
            <a:endParaRPr lang="en-US" sz="1200" dirty="0"/>
          </a:p>
        </p:txBody>
      </p:sp>
      <p:sp>
        <p:nvSpPr>
          <p:cNvPr id="11" name="Text 9"/>
          <p:cNvSpPr/>
          <p:nvPr/>
        </p:nvSpPr>
        <p:spPr>
          <a:xfrm>
            <a:off x="982980" y="2750821"/>
            <a:ext cx="5012639"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No ground-truth fraud or money-laundering label exists in this data.</a:t>
            </a:r>
            <a:endParaRPr lang="en-US" sz="1100" dirty="0"/>
          </a:p>
        </p:txBody>
      </p:sp>
      <p:sp>
        <p:nvSpPr>
          <p:cNvPr id="12" name="Shape 10"/>
          <p:cNvSpPr/>
          <p:nvPr/>
        </p:nvSpPr>
        <p:spPr>
          <a:xfrm>
            <a:off x="6175375" y="2350139"/>
            <a:ext cx="5200650" cy="763270"/>
          </a:xfrm>
          <a:prstGeom prst="roundRect">
            <a:avLst>
              <a:gd name="adj" fmla="val 11231"/>
            </a:avLst>
          </a:prstGeom>
          <a:solidFill>
            <a:srgbClr val="151C28"/>
          </a:solidFill>
          <a:ln w="6350">
            <a:solidFill>
              <a:srgbClr val="232C3A"/>
            </a:solidFill>
            <a:prstDash val="solid"/>
          </a:ln>
        </p:spPr>
      </p:sp>
      <p:sp>
        <p:nvSpPr>
          <p:cNvPr id="13" name="Text 11"/>
          <p:cNvSpPr/>
          <p:nvPr/>
        </p:nvSpPr>
        <p:spPr>
          <a:xfrm>
            <a:off x="6342380" y="2517142"/>
            <a:ext cx="5012639"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7A45"/>
                </a:solidFill>
                <a:latin typeface="IBM Plex Sans" pitchFamily="34" charset="0"/>
                <a:ea typeface="IBM Plex Sans" pitchFamily="34" charset="-122"/>
                <a:cs typeface="IBM Plex Sans" pitchFamily="34" charset="-120"/>
              </a:rPr>
              <a:t>Heuristic, not validated</a:t>
            </a:r>
            <a:endParaRPr lang="en-US" sz="1200" dirty="0"/>
          </a:p>
        </p:txBody>
      </p:sp>
      <p:sp>
        <p:nvSpPr>
          <p:cNvPr id="14" name="Text 12"/>
          <p:cNvSpPr/>
          <p:nvPr/>
        </p:nvSpPr>
        <p:spPr>
          <a:xfrm>
            <a:off x="6342380" y="2750821"/>
            <a:ext cx="5012639"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Risk scores are rule-based heuristics, not a validated fraud classifier.</a:t>
            </a:r>
            <a:endParaRPr lang="en-US" sz="1100" dirty="0"/>
          </a:p>
        </p:txBody>
      </p:sp>
      <p:sp>
        <p:nvSpPr>
          <p:cNvPr id="15" name="Text 13"/>
          <p:cNvSpPr/>
          <p:nvPr/>
        </p:nvSpPr>
        <p:spPr>
          <a:xfrm>
            <a:off x="812800" y="3319779"/>
            <a:ext cx="10883392" cy="472440"/>
          </a:xfrm>
          <a:prstGeom prst="rect">
            <a:avLst/>
          </a:prstGeom>
          <a:noFill/>
          <a:ln/>
        </p:spPr>
        <p:txBody>
          <a:bodyPr wrap="square" lIns="0" tIns="0" rIns="0" bIns="0" rtlCol="0" anchor="t">
            <a:normAutofit/>
          </a:bodyPr>
          <a:lstStyle/>
          <a:p>
            <a:pPr algn="l" indent="0" marL="0">
              <a:lnSpc>
                <a:spcPts val="1760"/>
              </a:lnSpc>
              <a:buNone/>
            </a:pPr>
            <a:r>
              <a:rPr lang="en-US" sz="1100" dirty="0">
                <a:solidFill>
                  <a:srgbClr val="8B96A5"/>
                </a:solidFill>
                <a:latin typeface="IBM Plex Sans" pitchFamily="34" charset="0"/>
                <a:ea typeface="IBM Plex Sans" pitchFamily="34" charset="-122"/>
                <a:cs typeface="IBM Plex Sans" pitchFamily="34" charset="-120"/>
              </a:rPr>
              <a:t>Docker deployment was prepared but not end-to-end verified · Streamlit Cloud deployment was prepared but not independently verified · the AI Analyst supports a fixed set of 12 question patterns.</a:t>
            </a:r>
            <a:endParaRPr lang="en-US" sz="1100" dirty="0"/>
          </a:p>
        </p:txBody>
      </p:sp>
      <p:sp>
        <p:nvSpPr>
          <p:cNvPr id="16" name="Shape 14"/>
          <p:cNvSpPr/>
          <p:nvPr/>
        </p:nvSpPr>
        <p:spPr>
          <a:xfrm>
            <a:off x="815975" y="3973196"/>
            <a:ext cx="10560050" cy="549910"/>
          </a:xfrm>
          <a:prstGeom prst="roundRect">
            <a:avLst>
              <a:gd name="adj" fmla="val 15589"/>
            </a:avLst>
          </a:prstGeom>
          <a:solidFill>
            <a:srgbClr val="132A26"/>
          </a:solidFill>
          <a:ln w="6350">
            <a:solidFill>
              <a:srgbClr val="1E4640"/>
            </a:solidFill>
            <a:prstDash val="solid"/>
          </a:ln>
        </p:spPr>
      </p:sp>
      <p:sp>
        <p:nvSpPr>
          <p:cNvPr id="17" name="Text 15"/>
          <p:cNvSpPr/>
          <p:nvPr/>
        </p:nvSpPr>
        <p:spPr>
          <a:xfrm>
            <a:off x="764184" y="4114801"/>
            <a:ext cx="10663631"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AD9C4"/>
                </a:solidFill>
                <a:latin typeface="Space Grotesk" pitchFamily="34" charset="0"/>
                <a:ea typeface="Space Grotesk" pitchFamily="34" charset="-122"/>
                <a:cs typeface="Space Grotesk" pitchFamily="34" charset="-120"/>
              </a:rPr>
              <a:t>Designed for explainability and honest uncertainty.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A0E14"/>
              </a:gs>
              <a:gs pos="55000">
                <a:srgbClr val="101B2E"/>
              </a:gs>
              <a:gs pos="100000">
                <a:srgbClr val="0A0E14"/>
              </a:gs>
            </a:gsLst>
            <a:lin ang="2700000" scaled="0"/>
          </a:gradFill>
          <a:ln/>
        </p:spPr>
      </p:sp>
      <p:sp>
        <p:nvSpPr>
          <p:cNvPr id="3" name="Text 1"/>
          <p:cNvSpPr/>
          <p:nvPr/>
        </p:nvSpPr>
        <p:spPr>
          <a:xfrm>
            <a:off x="5476796" y="1606550"/>
            <a:ext cx="1289209" cy="220980"/>
          </a:xfrm>
          <a:prstGeom prst="rect">
            <a:avLst/>
          </a:prstGeom>
          <a:noFill/>
          <a:ln/>
        </p:spPr>
        <p:txBody>
          <a:bodyPr wrap="square" lIns="0" tIns="0" rIns="0" bIns="0" rtlCol="0" anchor="t">
            <a:normAutofit/>
          </a:bodyPr>
          <a:lstStyle/>
          <a:p>
            <a:pPr algn="l" indent="0" marL="0">
              <a:lnSpc>
                <a:spcPts val="1540"/>
              </a:lnSpc>
              <a:buNone/>
            </a:pPr>
            <a:r>
              <a:rPr lang="en-US" sz="1100" b="1" spc="150" kern="0" dirty="0">
                <a:solidFill>
                  <a:srgbClr val="2AD9C4"/>
                </a:solidFill>
                <a:latin typeface="IBM Plex Sans" pitchFamily="34" charset="0"/>
                <a:ea typeface="IBM Plex Sans" pitchFamily="34" charset="-122"/>
                <a:cs typeface="IBM Plex Sans" pitchFamily="34" charset="-120"/>
              </a:rPr>
              <a:t>FUTURE SCOPE</a:t>
            </a:r>
            <a:endParaRPr lang="en-US" sz="1100" dirty="0"/>
          </a:p>
        </p:txBody>
      </p:sp>
      <p:sp>
        <p:nvSpPr>
          <p:cNvPr id="4" name="Shape 2"/>
          <p:cNvSpPr/>
          <p:nvPr/>
        </p:nvSpPr>
        <p:spPr>
          <a:xfrm>
            <a:off x="1082675" y="2059304"/>
            <a:ext cx="2406650" cy="648970"/>
          </a:xfrm>
          <a:prstGeom prst="roundRect">
            <a:avLst>
              <a:gd name="adj" fmla="val 11252"/>
            </a:avLst>
          </a:prstGeom>
          <a:solidFill>
            <a:srgbClr val="151C28"/>
          </a:solidFill>
          <a:ln w="6350">
            <a:solidFill>
              <a:srgbClr val="232C3A"/>
            </a:solidFill>
            <a:prstDash val="solid"/>
          </a:ln>
        </p:spPr>
      </p:sp>
      <p:sp>
        <p:nvSpPr>
          <p:cNvPr id="5" name="Text 3"/>
          <p:cNvSpPr/>
          <p:nvPr/>
        </p:nvSpPr>
        <p:spPr>
          <a:xfrm>
            <a:off x="1127023" y="2188209"/>
            <a:ext cx="2317953" cy="4165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Expand the AI Analyst's intent set</a:t>
            </a:r>
            <a:endParaRPr lang="en-US" sz="1100" dirty="0"/>
          </a:p>
        </p:txBody>
      </p:sp>
      <p:sp>
        <p:nvSpPr>
          <p:cNvPr id="6" name="Shape 4"/>
          <p:cNvSpPr/>
          <p:nvPr/>
        </p:nvSpPr>
        <p:spPr>
          <a:xfrm>
            <a:off x="3622675" y="2059304"/>
            <a:ext cx="2406650" cy="648970"/>
          </a:xfrm>
          <a:prstGeom prst="roundRect">
            <a:avLst>
              <a:gd name="adj" fmla="val 11252"/>
            </a:avLst>
          </a:prstGeom>
          <a:solidFill>
            <a:srgbClr val="151C28"/>
          </a:solidFill>
          <a:ln w="6350">
            <a:solidFill>
              <a:srgbClr val="232C3A"/>
            </a:solidFill>
            <a:prstDash val="solid"/>
          </a:ln>
        </p:spPr>
      </p:sp>
      <p:sp>
        <p:nvSpPr>
          <p:cNvPr id="7" name="Text 5"/>
          <p:cNvSpPr/>
          <p:nvPr/>
        </p:nvSpPr>
        <p:spPr>
          <a:xfrm>
            <a:off x="3667023" y="2188209"/>
            <a:ext cx="2317953" cy="4165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Add fuzzy / semantic intent matching</a:t>
            </a:r>
            <a:endParaRPr lang="en-US" sz="1100" dirty="0"/>
          </a:p>
        </p:txBody>
      </p:sp>
      <p:sp>
        <p:nvSpPr>
          <p:cNvPr id="8" name="Shape 6"/>
          <p:cNvSpPr/>
          <p:nvPr/>
        </p:nvSpPr>
        <p:spPr>
          <a:xfrm>
            <a:off x="6162675" y="2059304"/>
            <a:ext cx="2406650" cy="648970"/>
          </a:xfrm>
          <a:prstGeom prst="roundRect">
            <a:avLst>
              <a:gd name="adj" fmla="val 11252"/>
            </a:avLst>
          </a:prstGeom>
          <a:solidFill>
            <a:srgbClr val="151C28"/>
          </a:solidFill>
          <a:ln w="6350">
            <a:solidFill>
              <a:srgbClr val="232C3A"/>
            </a:solidFill>
            <a:prstDash val="solid"/>
          </a:ln>
        </p:spPr>
      </p:sp>
      <p:sp>
        <p:nvSpPr>
          <p:cNvPr id="9" name="Text 7"/>
          <p:cNvSpPr/>
          <p:nvPr/>
        </p:nvSpPr>
        <p:spPr>
          <a:xfrm>
            <a:off x="6207023" y="2188209"/>
            <a:ext cx="2317953" cy="4165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Stronger entity resolution (device ID, phone)</a:t>
            </a:r>
            <a:endParaRPr lang="en-US" sz="1100" dirty="0"/>
          </a:p>
        </p:txBody>
      </p:sp>
      <p:sp>
        <p:nvSpPr>
          <p:cNvPr id="10" name="Shape 8"/>
          <p:cNvSpPr/>
          <p:nvPr/>
        </p:nvSpPr>
        <p:spPr>
          <a:xfrm>
            <a:off x="8702675" y="2059304"/>
            <a:ext cx="2406650" cy="648970"/>
          </a:xfrm>
          <a:prstGeom prst="roundRect">
            <a:avLst>
              <a:gd name="adj" fmla="val 11252"/>
            </a:avLst>
          </a:prstGeom>
          <a:solidFill>
            <a:srgbClr val="151C28"/>
          </a:solidFill>
          <a:ln w="6350">
            <a:solidFill>
              <a:srgbClr val="232C3A"/>
            </a:solidFill>
            <a:prstDash val="solid"/>
          </a:ln>
        </p:spPr>
      </p:sp>
      <p:sp>
        <p:nvSpPr>
          <p:cNvPr id="11" name="Text 9"/>
          <p:cNvSpPr/>
          <p:nvPr/>
        </p:nvSpPr>
        <p:spPr>
          <a:xfrm>
            <a:off x="8747023" y="2188209"/>
            <a:ext cx="2317953" cy="4165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C7CFDA"/>
                </a:solidFill>
                <a:latin typeface="IBM Plex Sans" pitchFamily="34" charset="0"/>
                <a:ea typeface="IBM Plex Sans" pitchFamily="34" charset="-122"/>
                <a:cs typeface="IBM Plex Sans" pitchFamily="34" charset="-120"/>
              </a:rPr>
              <a:t>Persist risk scores &amp; graph outputs to Parquet</a:t>
            </a:r>
            <a:endParaRPr lang="en-US" sz="1100" dirty="0"/>
          </a:p>
        </p:txBody>
      </p:sp>
      <p:sp>
        <p:nvSpPr>
          <p:cNvPr id="12" name="Text 10"/>
          <p:cNvSpPr/>
          <p:nvPr/>
        </p:nvSpPr>
        <p:spPr>
          <a:xfrm>
            <a:off x="1190625" y="2965450"/>
            <a:ext cx="9810750" cy="939800"/>
          </a:xfrm>
          <a:prstGeom prst="rect">
            <a:avLst/>
          </a:prstGeom>
          <a:noFill/>
          <a:ln/>
        </p:spPr>
        <p:txBody>
          <a:bodyPr wrap="square" lIns="0" tIns="0" rIns="0" bIns="0" rtlCol="0" anchor="t">
            <a:normAutofit/>
          </a:bodyPr>
          <a:lstStyle/>
          <a:p>
            <a:pPr algn="ctr" indent="0" marL="0">
              <a:lnSpc>
                <a:spcPts val="3600"/>
              </a:lnSpc>
              <a:buNone/>
            </a:pPr>
            <a:r>
              <a:rPr lang="en-US" sz="3000" b="1" dirty="0">
                <a:solidFill>
                  <a:srgbClr val="F2F5F8"/>
                </a:solidFill>
                <a:latin typeface="Space Grotesk" pitchFamily="34" charset="0"/>
                <a:ea typeface="Space Grotesk" pitchFamily="34" charset="-122"/>
                <a:cs typeface="Space Grotesk" pitchFamily="34" charset="-120"/>
              </a:rPr>
              <a:t>From messy payment data to explainable risk intelligence.</a:t>
            </a:r>
            <a:endParaRPr lang="en-US" sz="3000" dirty="0"/>
          </a:p>
        </p:txBody>
      </p:sp>
      <p:sp>
        <p:nvSpPr>
          <p:cNvPr id="13" name="Shape 11"/>
          <p:cNvSpPr/>
          <p:nvPr/>
        </p:nvSpPr>
        <p:spPr>
          <a:xfrm>
            <a:off x="1965325" y="4234817"/>
            <a:ext cx="946150" cy="377190"/>
          </a:xfrm>
          <a:prstGeom prst="roundRect">
            <a:avLst>
              <a:gd name="adj" fmla="val 15993"/>
            </a:avLst>
          </a:prstGeom>
          <a:solidFill>
            <a:srgbClr val="1B2433"/>
          </a:solidFill>
          <a:ln w="6350">
            <a:solidFill>
              <a:srgbClr val="2A3548"/>
            </a:solidFill>
            <a:prstDash val="solid"/>
          </a:ln>
        </p:spPr>
      </p:sp>
      <p:sp>
        <p:nvSpPr>
          <p:cNvPr id="14" name="Text 12"/>
          <p:cNvSpPr/>
          <p:nvPr/>
        </p:nvSpPr>
        <p:spPr>
          <a:xfrm>
            <a:off x="1979930" y="4325622"/>
            <a:ext cx="916940" cy="22098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F2F5F8"/>
                </a:solidFill>
                <a:latin typeface="IBM Plex Sans" pitchFamily="34" charset="0"/>
                <a:ea typeface="IBM Plex Sans" pitchFamily="34" charset="-122"/>
                <a:cs typeface="IBM Plex Sans" pitchFamily="34" charset="-120"/>
              </a:rPr>
              <a:t>RAW DATA</a:t>
            </a:r>
            <a:endParaRPr lang="en-US" sz="1100" dirty="0"/>
          </a:p>
        </p:txBody>
      </p:sp>
      <p:sp>
        <p:nvSpPr>
          <p:cNvPr id="15" name="Text 13"/>
          <p:cNvSpPr/>
          <p:nvPr/>
        </p:nvSpPr>
        <p:spPr>
          <a:xfrm>
            <a:off x="2978150" y="4325621"/>
            <a:ext cx="19050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472"/>
                </a:solidFill>
                <a:latin typeface="IBM Plex Sans" pitchFamily="34" charset="0"/>
                <a:ea typeface="IBM Plex Sans" pitchFamily="34" charset="-122"/>
                <a:cs typeface="IBM Plex Sans" pitchFamily="34" charset="-120"/>
              </a:rPr>
              <a:t>→</a:t>
            </a:r>
            <a:endParaRPr lang="en-US" sz="1100" dirty="0"/>
          </a:p>
        </p:txBody>
      </p:sp>
      <p:sp>
        <p:nvSpPr>
          <p:cNvPr id="16" name="Shape 14"/>
          <p:cNvSpPr/>
          <p:nvPr/>
        </p:nvSpPr>
        <p:spPr>
          <a:xfrm>
            <a:off x="3184525" y="4137025"/>
            <a:ext cx="946150" cy="572770"/>
          </a:xfrm>
          <a:prstGeom prst="roundRect">
            <a:avLst>
              <a:gd name="adj" fmla="val 10532"/>
            </a:avLst>
          </a:prstGeom>
          <a:solidFill>
            <a:srgbClr val="1B2433"/>
          </a:solidFill>
          <a:ln w="6350">
            <a:solidFill>
              <a:srgbClr val="2A3548"/>
            </a:solidFill>
            <a:prstDash val="solid"/>
          </a:ln>
        </p:spPr>
      </p:sp>
      <p:sp>
        <p:nvSpPr>
          <p:cNvPr id="17" name="Text 15"/>
          <p:cNvSpPr/>
          <p:nvPr/>
        </p:nvSpPr>
        <p:spPr>
          <a:xfrm>
            <a:off x="3199130" y="4227830"/>
            <a:ext cx="916940" cy="4165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F2F5F8"/>
                </a:solidFill>
                <a:latin typeface="IBM Plex Sans" pitchFamily="34" charset="0"/>
                <a:ea typeface="IBM Plex Sans" pitchFamily="34" charset="-122"/>
                <a:cs typeface="IBM Plex Sans" pitchFamily="34" charset="-120"/>
              </a:rPr>
              <a:t>DATA RESCUE</a:t>
            </a:r>
            <a:endParaRPr lang="en-US" sz="1100" dirty="0"/>
          </a:p>
        </p:txBody>
      </p:sp>
      <p:sp>
        <p:nvSpPr>
          <p:cNvPr id="18" name="Text 16"/>
          <p:cNvSpPr/>
          <p:nvPr/>
        </p:nvSpPr>
        <p:spPr>
          <a:xfrm>
            <a:off x="4197350" y="4325621"/>
            <a:ext cx="19050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472"/>
                </a:solidFill>
                <a:latin typeface="IBM Plex Sans" pitchFamily="34" charset="0"/>
                <a:ea typeface="IBM Plex Sans" pitchFamily="34" charset="-122"/>
                <a:cs typeface="IBM Plex Sans" pitchFamily="34" charset="-120"/>
              </a:rPr>
              <a:t>→</a:t>
            </a:r>
            <a:endParaRPr lang="en-US" sz="1100" dirty="0"/>
          </a:p>
        </p:txBody>
      </p:sp>
      <p:sp>
        <p:nvSpPr>
          <p:cNvPr id="19" name="Shape 17"/>
          <p:cNvSpPr/>
          <p:nvPr/>
        </p:nvSpPr>
        <p:spPr>
          <a:xfrm>
            <a:off x="4403725" y="4234817"/>
            <a:ext cx="946150" cy="377190"/>
          </a:xfrm>
          <a:prstGeom prst="roundRect">
            <a:avLst>
              <a:gd name="adj" fmla="val 15993"/>
            </a:avLst>
          </a:prstGeom>
          <a:solidFill>
            <a:srgbClr val="1B2433"/>
          </a:solidFill>
          <a:ln w="6350">
            <a:solidFill>
              <a:srgbClr val="2A3548"/>
            </a:solidFill>
            <a:prstDash val="solid"/>
          </a:ln>
        </p:spPr>
      </p:sp>
      <p:sp>
        <p:nvSpPr>
          <p:cNvPr id="20" name="Text 18"/>
          <p:cNvSpPr/>
          <p:nvPr/>
        </p:nvSpPr>
        <p:spPr>
          <a:xfrm>
            <a:off x="4418330" y="4325622"/>
            <a:ext cx="916940" cy="22098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F2F5F8"/>
                </a:solidFill>
                <a:latin typeface="IBM Plex Sans" pitchFamily="34" charset="0"/>
                <a:ea typeface="IBM Plex Sans" pitchFamily="34" charset="-122"/>
                <a:cs typeface="IBM Plex Sans" pitchFamily="34" charset="-120"/>
              </a:rPr>
              <a:t>ANALYTICS</a:t>
            </a:r>
            <a:endParaRPr lang="en-US" sz="1100" dirty="0"/>
          </a:p>
        </p:txBody>
      </p:sp>
      <p:sp>
        <p:nvSpPr>
          <p:cNvPr id="21" name="Text 19"/>
          <p:cNvSpPr/>
          <p:nvPr/>
        </p:nvSpPr>
        <p:spPr>
          <a:xfrm>
            <a:off x="5416550" y="4325621"/>
            <a:ext cx="19050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472"/>
                </a:solidFill>
                <a:latin typeface="IBM Plex Sans" pitchFamily="34" charset="0"/>
                <a:ea typeface="IBM Plex Sans" pitchFamily="34" charset="-122"/>
                <a:cs typeface="IBM Plex Sans" pitchFamily="34" charset="-120"/>
              </a:rPr>
              <a:t>→</a:t>
            </a:r>
            <a:endParaRPr lang="en-US" sz="1100" dirty="0"/>
          </a:p>
        </p:txBody>
      </p:sp>
      <p:sp>
        <p:nvSpPr>
          <p:cNvPr id="22" name="Shape 20"/>
          <p:cNvSpPr/>
          <p:nvPr/>
        </p:nvSpPr>
        <p:spPr>
          <a:xfrm>
            <a:off x="5622925" y="4137025"/>
            <a:ext cx="946150" cy="572770"/>
          </a:xfrm>
          <a:prstGeom prst="roundRect">
            <a:avLst>
              <a:gd name="adj" fmla="val 10532"/>
            </a:avLst>
          </a:prstGeom>
          <a:solidFill>
            <a:srgbClr val="1B2433"/>
          </a:solidFill>
          <a:ln w="6350">
            <a:solidFill>
              <a:srgbClr val="2A3548"/>
            </a:solidFill>
            <a:prstDash val="solid"/>
          </a:ln>
        </p:spPr>
      </p:sp>
      <p:sp>
        <p:nvSpPr>
          <p:cNvPr id="23" name="Text 21"/>
          <p:cNvSpPr/>
          <p:nvPr/>
        </p:nvSpPr>
        <p:spPr>
          <a:xfrm>
            <a:off x="5637530" y="4227830"/>
            <a:ext cx="916940" cy="4165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F2F5F8"/>
                </a:solidFill>
                <a:latin typeface="IBM Plex Sans" pitchFamily="34" charset="0"/>
                <a:ea typeface="IBM Plex Sans" pitchFamily="34" charset="-122"/>
                <a:cs typeface="IBM Plex Sans" pitchFamily="34" charset="-120"/>
              </a:rPr>
              <a:t>RISK ENGINE</a:t>
            </a:r>
            <a:endParaRPr lang="en-US" sz="1100" dirty="0"/>
          </a:p>
        </p:txBody>
      </p:sp>
      <p:sp>
        <p:nvSpPr>
          <p:cNvPr id="24" name="Text 22"/>
          <p:cNvSpPr/>
          <p:nvPr/>
        </p:nvSpPr>
        <p:spPr>
          <a:xfrm>
            <a:off x="6635750" y="4325621"/>
            <a:ext cx="19050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472"/>
                </a:solidFill>
                <a:latin typeface="IBM Plex Sans" pitchFamily="34" charset="0"/>
                <a:ea typeface="IBM Plex Sans" pitchFamily="34" charset="-122"/>
                <a:cs typeface="IBM Plex Sans" pitchFamily="34" charset="-120"/>
              </a:rPr>
              <a:t>→</a:t>
            </a:r>
            <a:endParaRPr lang="en-US" sz="1100" dirty="0"/>
          </a:p>
        </p:txBody>
      </p:sp>
      <p:sp>
        <p:nvSpPr>
          <p:cNvPr id="25" name="Shape 23"/>
          <p:cNvSpPr/>
          <p:nvPr/>
        </p:nvSpPr>
        <p:spPr>
          <a:xfrm>
            <a:off x="6842125" y="4137025"/>
            <a:ext cx="946150" cy="572770"/>
          </a:xfrm>
          <a:prstGeom prst="roundRect">
            <a:avLst>
              <a:gd name="adj" fmla="val 10532"/>
            </a:avLst>
          </a:prstGeom>
          <a:solidFill>
            <a:srgbClr val="1B2433"/>
          </a:solidFill>
          <a:ln w="6350">
            <a:solidFill>
              <a:srgbClr val="2A3548"/>
            </a:solidFill>
            <a:prstDash val="solid"/>
          </a:ln>
        </p:spPr>
      </p:sp>
      <p:sp>
        <p:nvSpPr>
          <p:cNvPr id="26" name="Text 24"/>
          <p:cNvSpPr/>
          <p:nvPr/>
        </p:nvSpPr>
        <p:spPr>
          <a:xfrm>
            <a:off x="6856730" y="4227830"/>
            <a:ext cx="916940" cy="4165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F2F5F8"/>
                </a:solidFill>
                <a:latin typeface="IBM Plex Sans" pitchFamily="34" charset="0"/>
                <a:ea typeface="IBM Plex Sans" pitchFamily="34" charset="-122"/>
                <a:cs typeface="IBM Plex Sans" pitchFamily="34" charset="-120"/>
              </a:rPr>
              <a:t>NETWORK ANALYSIS</a:t>
            </a:r>
            <a:endParaRPr lang="en-US" sz="1100" dirty="0"/>
          </a:p>
        </p:txBody>
      </p:sp>
      <p:sp>
        <p:nvSpPr>
          <p:cNvPr id="27" name="Text 25"/>
          <p:cNvSpPr/>
          <p:nvPr/>
        </p:nvSpPr>
        <p:spPr>
          <a:xfrm>
            <a:off x="7854950" y="4325621"/>
            <a:ext cx="19050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472"/>
                </a:solidFill>
                <a:latin typeface="IBM Plex Sans" pitchFamily="34" charset="0"/>
                <a:ea typeface="IBM Plex Sans" pitchFamily="34" charset="-122"/>
                <a:cs typeface="IBM Plex Sans" pitchFamily="34" charset="-120"/>
              </a:rPr>
              <a:t>→</a:t>
            </a:r>
            <a:endParaRPr lang="en-US" sz="1100" dirty="0"/>
          </a:p>
        </p:txBody>
      </p:sp>
      <p:sp>
        <p:nvSpPr>
          <p:cNvPr id="28" name="Shape 26"/>
          <p:cNvSpPr/>
          <p:nvPr/>
        </p:nvSpPr>
        <p:spPr>
          <a:xfrm>
            <a:off x="8061325" y="4234817"/>
            <a:ext cx="946150" cy="377190"/>
          </a:xfrm>
          <a:prstGeom prst="roundRect">
            <a:avLst>
              <a:gd name="adj" fmla="val 15993"/>
            </a:avLst>
          </a:prstGeom>
          <a:solidFill>
            <a:srgbClr val="1B2433"/>
          </a:solidFill>
          <a:ln w="6350">
            <a:solidFill>
              <a:srgbClr val="2A3548"/>
            </a:solidFill>
            <a:prstDash val="solid"/>
          </a:ln>
        </p:spPr>
      </p:sp>
      <p:sp>
        <p:nvSpPr>
          <p:cNvPr id="29" name="Text 27"/>
          <p:cNvSpPr/>
          <p:nvPr/>
        </p:nvSpPr>
        <p:spPr>
          <a:xfrm>
            <a:off x="8075930" y="4325622"/>
            <a:ext cx="916940" cy="22098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F2F5F8"/>
                </a:solidFill>
                <a:latin typeface="IBM Plex Sans" pitchFamily="34" charset="0"/>
                <a:ea typeface="IBM Plex Sans" pitchFamily="34" charset="-122"/>
                <a:cs typeface="IBM Plex Sans" pitchFamily="34" charset="-120"/>
              </a:rPr>
              <a:t>AI ANALYST</a:t>
            </a:r>
            <a:endParaRPr lang="en-US" sz="1100" dirty="0"/>
          </a:p>
        </p:txBody>
      </p:sp>
      <p:sp>
        <p:nvSpPr>
          <p:cNvPr id="30" name="Text 28"/>
          <p:cNvSpPr/>
          <p:nvPr/>
        </p:nvSpPr>
        <p:spPr>
          <a:xfrm>
            <a:off x="9074150" y="4325621"/>
            <a:ext cx="19050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472"/>
                </a:solidFill>
                <a:latin typeface="IBM Plex Sans" pitchFamily="34" charset="0"/>
                <a:ea typeface="IBM Plex Sans" pitchFamily="34" charset="-122"/>
                <a:cs typeface="IBM Plex Sans" pitchFamily="34" charset="-120"/>
              </a:rPr>
              <a:t>→</a:t>
            </a:r>
            <a:endParaRPr lang="en-US" sz="1100" dirty="0"/>
          </a:p>
        </p:txBody>
      </p:sp>
      <p:sp>
        <p:nvSpPr>
          <p:cNvPr id="31" name="Shape 29"/>
          <p:cNvSpPr/>
          <p:nvPr/>
        </p:nvSpPr>
        <p:spPr>
          <a:xfrm>
            <a:off x="9280525" y="4137025"/>
            <a:ext cx="946150" cy="572770"/>
          </a:xfrm>
          <a:prstGeom prst="roundRect">
            <a:avLst>
              <a:gd name="adj" fmla="val 10532"/>
            </a:avLst>
          </a:prstGeom>
          <a:solidFill>
            <a:srgbClr val="132A26"/>
          </a:solidFill>
          <a:ln w="6350">
            <a:solidFill>
              <a:srgbClr val="1E4640"/>
            </a:solidFill>
            <a:prstDash val="solid"/>
          </a:ln>
        </p:spPr>
      </p:sp>
      <p:sp>
        <p:nvSpPr>
          <p:cNvPr id="32" name="Text 30"/>
          <p:cNvSpPr/>
          <p:nvPr/>
        </p:nvSpPr>
        <p:spPr>
          <a:xfrm>
            <a:off x="9295130" y="4227830"/>
            <a:ext cx="916940" cy="4165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2AD9C4"/>
                </a:solidFill>
                <a:latin typeface="IBM Plex Sans" pitchFamily="34" charset="0"/>
                <a:ea typeface="IBM Plex Sans" pitchFamily="34" charset="-122"/>
                <a:cs typeface="IBM Plex Sans" pitchFamily="34" charset="-120"/>
              </a:rPr>
              <a:t>ACTIONABLE INSIGHTS</a:t>
            </a:r>
            <a:endParaRPr lang="en-US" sz="1100" dirty="0"/>
          </a:p>
        </p:txBody>
      </p:sp>
      <p:sp>
        <p:nvSpPr>
          <p:cNvPr id="33" name="Text 31"/>
          <p:cNvSpPr/>
          <p:nvPr/>
        </p:nvSpPr>
        <p:spPr>
          <a:xfrm>
            <a:off x="4251722" y="4966971"/>
            <a:ext cx="3799131" cy="309880"/>
          </a:xfrm>
          <a:prstGeom prst="rect">
            <a:avLst/>
          </a:prstGeom>
          <a:noFill/>
          <a:ln/>
        </p:spPr>
        <p:txBody>
          <a:bodyPr wrap="square" lIns="0" tIns="0" rIns="0" bIns="0" rtlCol="0" anchor="t">
            <a:normAutofit/>
          </a:bodyPr>
          <a:lstStyle/>
          <a:p>
            <a:pPr algn="l" indent="0" marL="0">
              <a:lnSpc>
                <a:spcPts val="2240"/>
              </a:lnSpc>
              <a:buNone/>
            </a:pPr>
            <a:r>
              <a:rPr lang="en-US" sz="1600" b="1" spc="50" kern="0" dirty="0">
                <a:solidFill>
                  <a:srgbClr val="4E8BFF"/>
                </a:solidFill>
                <a:latin typeface="Space Grotesk" pitchFamily="34" charset="0"/>
                <a:ea typeface="Space Grotesk" pitchFamily="34" charset="-122"/>
                <a:cs typeface="Space Grotesk" pitchFamily="34" charset="-120"/>
              </a:rPr>
              <a:t>Explainable. Auditable. Data-aware.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UPI Fraud Ring &amp; Merchant Analytics</dc:title>
  <dc:subject>PptxGenJS Presentation</dc:subject>
  <dc:creator>PptxGenJS</dc:creator>
  <cp:lastModifiedBy>PptxGenJS</cp:lastModifiedBy>
  <cp:revision>1</cp:revision>
  <dcterms:created xsi:type="dcterms:W3CDTF">2026-09-17T02:41:38Z</dcterms:created>
  <dcterms:modified xsi:type="dcterms:W3CDTF">2026-09-17T02:41:38Z</dcterms:modified>
</cp:coreProperties>
</file>